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2" d="100"/>
          <a:sy n="122" d="100"/>
        </p:scale>
        <p:origin x="1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371600"/>
            <a:ext cx="9144000" cy="914400"/>
          </a:xfrm>
          <a:prstGeom prst="rect">
            <a:avLst/>
          </a:prstGeom>
          <a:noFill/>
        </p:spPr>
        <p:txBody>
          <a:bodyPr wrap="square">
            <a:spAutoFit/>
          </a:bodyPr>
          <a:lstStyle/>
          <a:p>
            <a:pPr algn="l">
              <a:defRPr sz="5600" b="1" i="0">
                <a:solidFill>
                  <a:srgbClr val="FFFFFF"/>
                </a:solidFill>
                <a:latin typeface="Calibri"/>
              </a:defRPr>
            </a:pPr>
            <a:r>
              <a:t>BOOK MATCH</a:t>
            </a:r>
          </a:p>
        </p:txBody>
      </p:sp>
      <p:sp>
        <p:nvSpPr>
          <p:cNvPr id="4" name="Rectangle 3"/>
          <p:cNvSpPr/>
          <p:nvPr/>
        </p:nvSpPr>
        <p:spPr>
          <a:xfrm>
            <a:off x="1097280" y="2468880"/>
            <a:ext cx="27432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834640"/>
            <a:ext cx="9144000" cy="914400"/>
          </a:xfrm>
          <a:prstGeom prst="rect">
            <a:avLst/>
          </a:prstGeom>
          <a:noFill/>
        </p:spPr>
        <p:txBody>
          <a:bodyPr wrap="square">
            <a:spAutoFit/>
          </a:bodyPr>
          <a:lstStyle/>
          <a:p>
            <a:pPr algn="l">
              <a:defRPr sz="3400" b="1" i="0">
                <a:solidFill>
                  <a:srgbClr val="FFFFFF"/>
                </a:solidFill>
                <a:latin typeface="Calibri"/>
              </a:defRPr>
            </a:pPr>
            <a:r>
              <a:t>AI Đồng Hành Cùng Văn Hóa Đọc</a:t>
            </a:r>
          </a:p>
        </p:txBody>
      </p:sp>
      <p:sp>
        <p:nvSpPr>
          <p:cNvPr id="6" name="TextBox 5"/>
          <p:cNvSpPr txBox="1"/>
          <p:nvPr/>
        </p:nvSpPr>
        <p:spPr>
          <a:xfrm>
            <a:off x="1097280" y="3840480"/>
            <a:ext cx="9144000" cy="731520"/>
          </a:xfrm>
          <a:prstGeom prst="rect">
            <a:avLst/>
          </a:prstGeom>
          <a:noFill/>
        </p:spPr>
        <p:txBody>
          <a:bodyPr wrap="square">
            <a:spAutoFit/>
          </a:bodyPr>
          <a:lstStyle/>
          <a:p>
            <a:pPr algn="l">
              <a:defRPr sz="1800" b="0" i="0">
                <a:solidFill>
                  <a:srgbClr val="CCD5E0"/>
                </a:solidFill>
                <a:latin typeface="Calibri"/>
              </a:defRPr>
            </a:pPr>
            <a:r>
              <a:t>Sáng kiến phần mềm hỗ trợ đọc sách với sự trợ giúp của Trí tuệ Nhân tạo</a:t>
            </a:r>
          </a:p>
        </p:txBody>
      </p:sp>
      <p:sp>
        <p:nvSpPr>
          <p:cNvPr id="7" name="TextBox 6"/>
          <p:cNvSpPr txBox="1"/>
          <p:nvPr/>
        </p:nvSpPr>
        <p:spPr>
          <a:xfrm>
            <a:off x="1097280" y="5303520"/>
            <a:ext cx="9144000" cy="548640"/>
          </a:xfrm>
          <a:prstGeom prst="rect">
            <a:avLst/>
          </a:prstGeom>
          <a:noFill/>
        </p:spPr>
        <p:txBody>
          <a:bodyPr wrap="square">
            <a:spAutoFit/>
          </a:bodyPr>
          <a:lstStyle/>
          <a:p>
            <a:pPr algn="l">
              <a:defRPr sz="1400" b="0" i="0">
                <a:solidFill>
                  <a:srgbClr val="99AABB"/>
                </a:solidFill>
                <a:latin typeface="Calibri"/>
              </a:defRPr>
            </a:pPr>
            <a:r>
              <a:t>Đại học Thủ Dầu Một  |  Đại sứ Văn hóa Đọc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NỘI DUNG TRÌNH BÀY</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97280" y="1645920"/>
            <a:ext cx="640080" cy="59436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719072"/>
            <a:ext cx="640080" cy="457200"/>
          </a:xfrm>
          <a:prstGeom prst="rect">
            <a:avLst/>
          </a:prstGeom>
          <a:noFill/>
        </p:spPr>
        <p:txBody>
          <a:bodyPr wrap="square">
            <a:spAutoFit/>
          </a:bodyPr>
          <a:lstStyle/>
          <a:p>
            <a:pPr algn="ctr">
              <a:defRPr sz="1800" b="1" i="0">
                <a:solidFill>
                  <a:srgbClr val="FFFFFF"/>
                </a:solidFill>
                <a:latin typeface="Calibri"/>
              </a:defRPr>
            </a:pPr>
            <a:r>
              <a:t>01</a:t>
            </a:r>
          </a:p>
        </p:txBody>
      </p:sp>
      <p:sp>
        <p:nvSpPr>
          <p:cNvPr id="7" name="TextBox 6"/>
          <p:cNvSpPr txBox="1"/>
          <p:nvPr/>
        </p:nvSpPr>
        <p:spPr>
          <a:xfrm>
            <a:off x="2011680" y="1737360"/>
            <a:ext cx="8229600" cy="457200"/>
          </a:xfrm>
          <a:prstGeom prst="rect">
            <a:avLst/>
          </a:prstGeom>
          <a:noFill/>
        </p:spPr>
        <p:txBody>
          <a:bodyPr wrap="square">
            <a:spAutoFit/>
          </a:bodyPr>
          <a:lstStyle/>
          <a:p>
            <a:pPr algn="l">
              <a:defRPr sz="2000" b="1" i="0">
                <a:solidFill>
                  <a:srgbClr val="1E1E1E"/>
                </a:solidFill>
                <a:latin typeface="Calibri"/>
              </a:defRPr>
            </a:pPr>
            <a:r>
              <a:t>Giới thiệu về dự án Book Match</a:t>
            </a:r>
          </a:p>
        </p:txBody>
      </p:sp>
      <p:sp>
        <p:nvSpPr>
          <p:cNvPr id="8" name="Rectangle 7"/>
          <p:cNvSpPr/>
          <p:nvPr/>
        </p:nvSpPr>
        <p:spPr>
          <a:xfrm>
            <a:off x="2011680" y="2331720"/>
            <a:ext cx="86868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97280" y="2560320"/>
            <a:ext cx="640080" cy="59436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633472"/>
            <a:ext cx="640080" cy="457200"/>
          </a:xfrm>
          <a:prstGeom prst="rect">
            <a:avLst/>
          </a:prstGeom>
          <a:noFill/>
        </p:spPr>
        <p:txBody>
          <a:bodyPr wrap="square">
            <a:spAutoFit/>
          </a:bodyPr>
          <a:lstStyle/>
          <a:p>
            <a:pPr algn="ctr">
              <a:defRPr sz="1800" b="1" i="0">
                <a:solidFill>
                  <a:srgbClr val="FFFFFF"/>
                </a:solidFill>
                <a:latin typeface="Calibri"/>
              </a:defRPr>
            </a:pPr>
            <a:r>
              <a:t>02</a:t>
            </a:r>
          </a:p>
        </p:txBody>
      </p:sp>
      <p:sp>
        <p:nvSpPr>
          <p:cNvPr id="11" name="TextBox 10"/>
          <p:cNvSpPr txBox="1"/>
          <p:nvPr/>
        </p:nvSpPr>
        <p:spPr>
          <a:xfrm>
            <a:off x="2011680" y="2651760"/>
            <a:ext cx="8229600" cy="457200"/>
          </a:xfrm>
          <a:prstGeom prst="rect">
            <a:avLst/>
          </a:prstGeom>
          <a:noFill/>
        </p:spPr>
        <p:txBody>
          <a:bodyPr wrap="square">
            <a:spAutoFit/>
          </a:bodyPr>
          <a:lstStyle/>
          <a:p>
            <a:pPr algn="l">
              <a:defRPr sz="2000" b="1" i="0">
                <a:solidFill>
                  <a:srgbClr val="1E1E1E"/>
                </a:solidFill>
                <a:latin typeface="Calibri"/>
              </a:defRPr>
            </a:pPr>
            <a:r>
              <a:t>Vai trò của AI trong văn hóa đọc</a:t>
            </a:r>
          </a:p>
        </p:txBody>
      </p:sp>
      <p:sp>
        <p:nvSpPr>
          <p:cNvPr id="12" name="Rectangle 11"/>
          <p:cNvSpPr/>
          <p:nvPr/>
        </p:nvSpPr>
        <p:spPr>
          <a:xfrm>
            <a:off x="2011680" y="3246120"/>
            <a:ext cx="86868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7280" y="3474720"/>
            <a:ext cx="640080" cy="59436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547872"/>
            <a:ext cx="640080" cy="457200"/>
          </a:xfrm>
          <a:prstGeom prst="rect">
            <a:avLst/>
          </a:prstGeom>
          <a:noFill/>
        </p:spPr>
        <p:txBody>
          <a:bodyPr wrap="square">
            <a:spAutoFit/>
          </a:bodyPr>
          <a:lstStyle/>
          <a:p>
            <a:pPr algn="ctr">
              <a:defRPr sz="1800" b="1" i="0">
                <a:solidFill>
                  <a:srgbClr val="FFFFFF"/>
                </a:solidFill>
                <a:latin typeface="Calibri"/>
              </a:defRPr>
            </a:pPr>
            <a:r>
              <a:t>03</a:t>
            </a:r>
          </a:p>
        </p:txBody>
      </p:sp>
      <p:sp>
        <p:nvSpPr>
          <p:cNvPr id="15" name="TextBox 14"/>
          <p:cNvSpPr txBox="1"/>
          <p:nvPr/>
        </p:nvSpPr>
        <p:spPr>
          <a:xfrm>
            <a:off x="2011680" y="3566160"/>
            <a:ext cx="8229600" cy="457200"/>
          </a:xfrm>
          <a:prstGeom prst="rect">
            <a:avLst/>
          </a:prstGeom>
          <a:noFill/>
        </p:spPr>
        <p:txBody>
          <a:bodyPr wrap="square">
            <a:spAutoFit/>
          </a:bodyPr>
          <a:lstStyle/>
          <a:p>
            <a:pPr algn="l">
              <a:defRPr sz="2000" b="1" i="0">
                <a:solidFill>
                  <a:srgbClr val="1E1E1E"/>
                </a:solidFill>
                <a:latin typeface="Calibri"/>
              </a:defRPr>
            </a:pPr>
            <a:r>
              <a:t>Các tính năng hỗ trợ đọc sách</a:t>
            </a:r>
          </a:p>
        </p:txBody>
      </p:sp>
      <p:sp>
        <p:nvSpPr>
          <p:cNvPr id="16" name="Rectangle 15"/>
          <p:cNvSpPr/>
          <p:nvPr/>
        </p:nvSpPr>
        <p:spPr>
          <a:xfrm>
            <a:off x="2011680" y="4160520"/>
            <a:ext cx="86868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0" y="4389120"/>
            <a:ext cx="640080" cy="59436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462272"/>
            <a:ext cx="640080" cy="457200"/>
          </a:xfrm>
          <a:prstGeom prst="rect">
            <a:avLst/>
          </a:prstGeom>
          <a:noFill/>
        </p:spPr>
        <p:txBody>
          <a:bodyPr wrap="square">
            <a:spAutoFit/>
          </a:bodyPr>
          <a:lstStyle/>
          <a:p>
            <a:pPr algn="ctr">
              <a:defRPr sz="1800" b="1" i="0">
                <a:solidFill>
                  <a:srgbClr val="FFFFFF"/>
                </a:solidFill>
                <a:latin typeface="Calibri"/>
              </a:defRPr>
            </a:pPr>
            <a:r>
              <a:t>04</a:t>
            </a:r>
          </a:p>
        </p:txBody>
      </p:sp>
      <p:sp>
        <p:nvSpPr>
          <p:cNvPr id="19" name="TextBox 18"/>
          <p:cNvSpPr txBox="1"/>
          <p:nvPr/>
        </p:nvSpPr>
        <p:spPr>
          <a:xfrm>
            <a:off x="2011680" y="4480560"/>
            <a:ext cx="8229600" cy="457200"/>
          </a:xfrm>
          <a:prstGeom prst="rect">
            <a:avLst/>
          </a:prstGeom>
          <a:noFill/>
        </p:spPr>
        <p:txBody>
          <a:bodyPr wrap="square">
            <a:spAutoFit/>
          </a:bodyPr>
          <a:lstStyle/>
          <a:p>
            <a:pPr algn="l">
              <a:defRPr sz="2000" b="1" i="0">
                <a:solidFill>
                  <a:srgbClr val="1E1E1E"/>
                </a:solidFill>
                <a:latin typeface="Calibri"/>
              </a:defRPr>
            </a:pPr>
            <a:r>
              <a:t>Lộ trình người dùng</a:t>
            </a:r>
          </a:p>
        </p:txBody>
      </p:sp>
      <p:sp>
        <p:nvSpPr>
          <p:cNvPr id="20" name="Rectangle 19"/>
          <p:cNvSpPr/>
          <p:nvPr/>
        </p:nvSpPr>
        <p:spPr>
          <a:xfrm>
            <a:off x="2011680" y="5074920"/>
            <a:ext cx="8686800" cy="914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97280" y="5303520"/>
            <a:ext cx="640080" cy="59436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376672"/>
            <a:ext cx="640080" cy="457200"/>
          </a:xfrm>
          <a:prstGeom prst="rect">
            <a:avLst/>
          </a:prstGeom>
          <a:noFill/>
        </p:spPr>
        <p:txBody>
          <a:bodyPr wrap="square">
            <a:spAutoFit/>
          </a:bodyPr>
          <a:lstStyle/>
          <a:p>
            <a:pPr algn="ctr">
              <a:defRPr sz="1800" b="1" i="0">
                <a:solidFill>
                  <a:srgbClr val="FFFFFF"/>
                </a:solidFill>
                <a:latin typeface="Calibri"/>
              </a:defRPr>
            </a:pPr>
            <a:r>
              <a:t>05</a:t>
            </a:r>
          </a:p>
        </p:txBody>
      </p:sp>
      <p:sp>
        <p:nvSpPr>
          <p:cNvPr id="23" name="TextBox 22"/>
          <p:cNvSpPr txBox="1"/>
          <p:nvPr/>
        </p:nvSpPr>
        <p:spPr>
          <a:xfrm>
            <a:off x="2011680" y="5394960"/>
            <a:ext cx="8229600" cy="457200"/>
          </a:xfrm>
          <a:prstGeom prst="rect">
            <a:avLst/>
          </a:prstGeom>
          <a:noFill/>
        </p:spPr>
        <p:txBody>
          <a:bodyPr wrap="square">
            <a:spAutoFit/>
          </a:bodyPr>
          <a:lstStyle/>
          <a:p>
            <a:pPr algn="l">
              <a:defRPr sz="2000" b="1" i="0">
                <a:solidFill>
                  <a:srgbClr val="1E1E1E"/>
                </a:solidFill>
                <a:latin typeface="Calibri"/>
              </a:defRPr>
            </a:pPr>
            <a:r>
              <a:t>Kết luận và định hướng phát triển</a:t>
            </a:r>
          </a:p>
        </p:txBody>
      </p:sp>
      <p:sp>
        <p:nvSpPr>
          <p:cNvPr id="24" name="TextBox 23"/>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2 / 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731520"/>
          </a:xfrm>
          <a:prstGeom prst="rect">
            <a:avLst/>
          </a:prstGeom>
          <a:noFill/>
        </p:spPr>
        <p:txBody>
          <a:bodyPr wrap="square">
            <a:spAutoFit/>
          </a:bodyPr>
          <a:lstStyle/>
          <a:p>
            <a:pPr algn="l">
              <a:defRPr sz="7200" b="1" i="0">
                <a:solidFill>
                  <a:srgbClr val="FFFFFF"/>
                </a:solidFill>
                <a:latin typeface="Calibri"/>
              </a:defRPr>
            </a:pPr>
            <a:r>
              <a:t>01</a:t>
            </a:r>
          </a:p>
        </p:txBody>
      </p:sp>
      <p:sp>
        <p:nvSpPr>
          <p:cNvPr id="4" name="Rectangle 3"/>
          <p:cNvSpPr/>
          <p:nvPr/>
        </p:nvSpPr>
        <p:spPr>
          <a:xfrm>
            <a:off x="914400" y="2926080"/>
            <a:ext cx="22860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291840"/>
            <a:ext cx="10058400" cy="1097280"/>
          </a:xfrm>
          <a:prstGeom prst="rect">
            <a:avLst/>
          </a:prstGeom>
          <a:noFill/>
        </p:spPr>
        <p:txBody>
          <a:bodyPr wrap="square">
            <a:spAutoFit/>
          </a:bodyPr>
          <a:lstStyle/>
          <a:p>
            <a:pPr algn="l">
              <a:defRPr sz="3600" b="1" i="0">
                <a:solidFill>
                  <a:srgbClr val="FFFFFF"/>
                </a:solidFill>
                <a:latin typeface="Calibri"/>
              </a:defRPr>
            </a:pPr>
            <a:r>
              <a:t>Giới thiệu về dự án Book Match</a:t>
            </a:r>
          </a:p>
        </p:txBody>
      </p:sp>
      <p:sp>
        <p:nvSpPr>
          <p:cNvPr id="6" name="TextBox 5"/>
          <p:cNvSpPr txBox="1"/>
          <p:nvPr/>
        </p:nvSpPr>
        <p:spPr>
          <a:xfrm>
            <a:off x="914400" y="4389120"/>
            <a:ext cx="10058400" cy="548640"/>
          </a:xfrm>
          <a:prstGeom prst="rect">
            <a:avLst/>
          </a:prstGeom>
          <a:noFill/>
        </p:spPr>
        <p:txBody>
          <a:bodyPr wrap="square">
            <a:spAutoFit/>
          </a:bodyPr>
          <a:lstStyle/>
          <a:p>
            <a:pPr algn="l">
              <a:defRPr sz="1800" b="0" i="0">
                <a:solidFill>
                  <a:srgbClr val="CCD5E0"/>
                </a:solidFill>
                <a:latin typeface="Calibri"/>
              </a:defRPr>
            </a:pPr>
            <a:r>
              <a:t>Bối cảnh, mục tiêu và đối tượng hướng đến</a:t>
            </a:r>
          </a:p>
        </p:txBody>
      </p:sp>
      <p:sp>
        <p:nvSpPr>
          <p:cNvPr id="7" name="TextBox 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3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Bối cảnh ra đời</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10058400" cy="1097280"/>
          </a:xfrm>
          <a:prstGeom prst="rect">
            <a:avLst/>
          </a:prstGeom>
          <a:noFill/>
        </p:spPr>
        <p:txBody>
          <a:bodyPr wrap="square">
            <a:spAutoFit/>
          </a:bodyPr>
          <a:lstStyle/>
          <a:p>
            <a:pPr algn="l">
              <a:defRPr sz="1600" b="0" i="0">
                <a:solidFill>
                  <a:srgbClr val="1E1E1E"/>
                </a:solidFill>
                <a:latin typeface="Calibri"/>
              </a:defRPr>
            </a:pPr>
            <a:r>
              <a:t>Cuộc thi Đại sứ Văn hóa Đọc là hoạt động ý nghĩa nhằm khơi dậy niềm đam mê đọc sách trong cộng đồng, đặc biệt là thế hệ trẻ tại Trường Đại học Thủ Dầu Một.</a:t>
            </a:r>
          </a:p>
        </p:txBody>
      </p:sp>
      <p:sp>
        <p:nvSpPr>
          <p:cNvPr id="6" name="TextBox 5"/>
          <p:cNvSpPr txBox="1"/>
          <p:nvPr/>
        </p:nvSpPr>
        <p:spPr>
          <a:xfrm>
            <a:off x="731520" y="2743200"/>
            <a:ext cx="5029200" cy="457200"/>
          </a:xfrm>
          <a:prstGeom prst="rect">
            <a:avLst/>
          </a:prstGeom>
          <a:noFill/>
        </p:spPr>
        <p:txBody>
          <a:bodyPr wrap="square">
            <a:spAutoFit/>
          </a:bodyPr>
          <a:lstStyle/>
          <a:p>
            <a:pPr algn="l">
              <a:defRPr sz="1800" b="1" i="0">
                <a:solidFill>
                  <a:srgbClr val="1A3C6E"/>
                </a:solidFill>
                <a:latin typeface="Calibri"/>
              </a:defRPr>
            </a:pPr>
            <a:r>
              <a:t>Rào cản đọc sách của sinh viên:</a:t>
            </a:r>
          </a:p>
        </p:txBody>
      </p:sp>
      <p:sp>
        <p:nvSpPr>
          <p:cNvPr id="7" name="Rounded Rectangle 6"/>
          <p:cNvSpPr/>
          <p:nvPr/>
        </p:nvSpPr>
        <p:spPr>
          <a:xfrm>
            <a:off x="822960" y="3410712"/>
            <a:ext cx="4572000" cy="347472"/>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book.png"/>
          <p:cNvPicPr>
            <a:picLocks noChangeAspect="1"/>
          </p:cNvPicPr>
          <p:nvPr/>
        </p:nvPicPr>
        <p:blipFill>
          <a:blip r:embed="rId2"/>
          <a:stretch>
            <a:fillRect/>
          </a:stretch>
        </p:blipFill>
        <p:spPr>
          <a:xfrm>
            <a:off x="914400" y="3429000"/>
            <a:ext cx="201168" cy="201168"/>
          </a:xfrm>
          <a:prstGeom prst="rect">
            <a:avLst/>
          </a:prstGeom>
        </p:spPr>
      </p:pic>
      <p:sp>
        <p:nvSpPr>
          <p:cNvPr id="9" name="TextBox 8"/>
          <p:cNvSpPr txBox="1"/>
          <p:nvPr/>
        </p:nvSpPr>
        <p:spPr>
          <a:xfrm>
            <a:off x="1234440" y="3410712"/>
            <a:ext cx="4069080" cy="365760"/>
          </a:xfrm>
          <a:prstGeom prst="rect">
            <a:avLst/>
          </a:prstGeom>
          <a:noFill/>
        </p:spPr>
        <p:txBody>
          <a:bodyPr wrap="square">
            <a:spAutoFit/>
          </a:bodyPr>
          <a:lstStyle/>
          <a:p>
            <a:pPr algn="l">
              <a:defRPr sz="1400" b="0" i="0">
                <a:solidFill>
                  <a:srgbClr val="1E1E1E"/>
                </a:solidFill>
                <a:latin typeface="Calibri"/>
              </a:defRPr>
            </a:pPr>
            <a:r>
              <a:t>Không biết nên đọc sách gì giữa hàng ngàn đầu sách</a:t>
            </a:r>
          </a:p>
        </p:txBody>
      </p:sp>
      <p:pic>
        <p:nvPicPr>
          <p:cNvPr id="10" name="Picture 9" descr="zap.png"/>
          <p:cNvPicPr>
            <a:picLocks noChangeAspect="1"/>
          </p:cNvPicPr>
          <p:nvPr/>
        </p:nvPicPr>
        <p:blipFill>
          <a:blip r:embed="rId3"/>
          <a:stretch>
            <a:fillRect/>
          </a:stretch>
        </p:blipFill>
        <p:spPr>
          <a:xfrm>
            <a:off x="914400" y="3931920"/>
            <a:ext cx="201168" cy="201168"/>
          </a:xfrm>
          <a:prstGeom prst="rect">
            <a:avLst/>
          </a:prstGeom>
        </p:spPr>
      </p:pic>
      <p:sp>
        <p:nvSpPr>
          <p:cNvPr id="11" name="TextBox 10"/>
          <p:cNvSpPr txBox="1"/>
          <p:nvPr/>
        </p:nvSpPr>
        <p:spPr>
          <a:xfrm>
            <a:off x="1234440" y="3913632"/>
            <a:ext cx="4069080" cy="365760"/>
          </a:xfrm>
          <a:prstGeom prst="rect">
            <a:avLst/>
          </a:prstGeom>
          <a:noFill/>
        </p:spPr>
        <p:txBody>
          <a:bodyPr wrap="square">
            <a:spAutoFit/>
          </a:bodyPr>
          <a:lstStyle/>
          <a:p>
            <a:pPr algn="l">
              <a:defRPr sz="1400" b="0" i="0">
                <a:solidFill>
                  <a:srgbClr val="1E1E1E"/>
                </a:solidFill>
                <a:latin typeface="Calibri"/>
              </a:defRPr>
            </a:pPr>
            <a:r>
              <a:t>Thiếu động lực và kỷ luật đọc sách hàng ngày</a:t>
            </a:r>
          </a:p>
        </p:txBody>
      </p:sp>
      <p:sp>
        <p:nvSpPr>
          <p:cNvPr id="12" name="Rounded Rectangle 11"/>
          <p:cNvSpPr/>
          <p:nvPr/>
        </p:nvSpPr>
        <p:spPr>
          <a:xfrm>
            <a:off x="822960" y="4416552"/>
            <a:ext cx="4572000" cy="347472"/>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art.png"/>
          <p:cNvPicPr>
            <a:picLocks noChangeAspect="1"/>
          </p:cNvPicPr>
          <p:nvPr/>
        </p:nvPicPr>
        <p:blipFill>
          <a:blip r:embed="rId4"/>
          <a:stretch>
            <a:fillRect/>
          </a:stretch>
        </p:blipFill>
        <p:spPr>
          <a:xfrm>
            <a:off x="914400" y="4434840"/>
            <a:ext cx="201168" cy="201168"/>
          </a:xfrm>
          <a:prstGeom prst="rect">
            <a:avLst/>
          </a:prstGeom>
        </p:spPr>
      </p:pic>
      <p:sp>
        <p:nvSpPr>
          <p:cNvPr id="14" name="TextBox 13"/>
          <p:cNvSpPr txBox="1"/>
          <p:nvPr/>
        </p:nvSpPr>
        <p:spPr>
          <a:xfrm>
            <a:off x="1234440" y="4416552"/>
            <a:ext cx="4069080" cy="365760"/>
          </a:xfrm>
          <a:prstGeom prst="rect">
            <a:avLst/>
          </a:prstGeom>
          <a:noFill/>
        </p:spPr>
        <p:txBody>
          <a:bodyPr wrap="square">
            <a:spAutoFit/>
          </a:bodyPr>
          <a:lstStyle/>
          <a:p>
            <a:pPr algn="l">
              <a:defRPr sz="1400" b="0" i="0">
                <a:solidFill>
                  <a:srgbClr val="1E1E1E"/>
                </a:solidFill>
                <a:latin typeface="Calibri"/>
              </a:defRPr>
            </a:pPr>
            <a:r>
              <a:t>Không có công cụ theo dõi tiến độ đọc sách</a:t>
            </a:r>
          </a:p>
        </p:txBody>
      </p:sp>
      <p:pic>
        <p:nvPicPr>
          <p:cNvPr id="15" name="Picture 14" descr="users.png"/>
          <p:cNvPicPr>
            <a:picLocks noChangeAspect="1"/>
          </p:cNvPicPr>
          <p:nvPr/>
        </p:nvPicPr>
        <p:blipFill>
          <a:blip r:embed="rId5"/>
          <a:stretch>
            <a:fillRect/>
          </a:stretch>
        </p:blipFill>
        <p:spPr>
          <a:xfrm>
            <a:off x="914400" y="4937760"/>
            <a:ext cx="201168" cy="201168"/>
          </a:xfrm>
          <a:prstGeom prst="rect">
            <a:avLst/>
          </a:prstGeom>
        </p:spPr>
      </p:pic>
      <p:sp>
        <p:nvSpPr>
          <p:cNvPr id="16" name="TextBox 15"/>
          <p:cNvSpPr txBox="1"/>
          <p:nvPr/>
        </p:nvSpPr>
        <p:spPr>
          <a:xfrm>
            <a:off x="1234440" y="4919472"/>
            <a:ext cx="4069080" cy="365760"/>
          </a:xfrm>
          <a:prstGeom prst="rect">
            <a:avLst/>
          </a:prstGeom>
          <a:noFill/>
        </p:spPr>
        <p:txBody>
          <a:bodyPr wrap="square">
            <a:spAutoFit/>
          </a:bodyPr>
          <a:lstStyle/>
          <a:p>
            <a:pPr algn="l">
              <a:defRPr sz="1400" b="0" i="0">
                <a:solidFill>
                  <a:srgbClr val="1E1E1E"/>
                </a:solidFill>
                <a:latin typeface="Calibri"/>
              </a:defRPr>
            </a:pPr>
            <a:r>
              <a:t>Khó tìm cộng đồng cùng chung sở thích đọc</a:t>
            </a:r>
          </a:p>
        </p:txBody>
      </p:sp>
      <p:sp>
        <p:nvSpPr>
          <p:cNvPr id="17" name="Rounded Rectangle 16"/>
          <p:cNvSpPr/>
          <p:nvPr/>
        </p:nvSpPr>
        <p:spPr>
          <a:xfrm>
            <a:off x="6400800" y="2286000"/>
            <a:ext cx="5029200" cy="365760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560320"/>
            <a:ext cx="4572000" cy="457200"/>
          </a:xfrm>
          <a:prstGeom prst="rect">
            <a:avLst/>
          </a:prstGeom>
          <a:noFill/>
        </p:spPr>
        <p:txBody>
          <a:bodyPr wrap="square">
            <a:spAutoFit/>
          </a:bodyPr>
          <a:lstStyle/>
          <a:p>
            <a:pPr algn="l">
              <a:defRPr sz="2200" b="1" i="0">
                <a:solidFill>
                  <a:srgbClr val="FFFFFF"/>
                </a:solidFill>
                <a:latin typeface="Calibri"/>
              </a:defRPr>
            </a:pPr>
            <a:r>
              <a:t>Giải pháp Book Match</a:t>
            </a:r>
          </a:p>
        </p:txBody>
      </p:sp>
      <p:sp>
        <p:nvSpPr>
          <p:cNvPr id="19" name="Rectangle 18"/>
          <p:cNvSpPr/>
          <p:nvPr/>
        </p:nvSpPr>
        <p:spPr>
          <a:xfrm>
            <a:off x="6675120" y="3108960"/>
            <a:ext cx="137160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0" y="3383280"/>
            <a:ext cx="4572000" cy="2286000"/>
          </a:xfrm>
          <a:prstGeom prst="rect">
            <a:avLst/>
          </a:prstGeom>
          <a:noFill/>
        </p:spPr>
        <p:txBody>
          <a:bodyPr wrap="square">
            <a:spAutoFit/>
          </a:bodyPr>
          <a:lstStyle/>
          <a:p>
            <a:pPr algn="l">
              <a:spcAft>
                <a:spcPts val="400"/>
              </a:spcAft>
              <a:defRPr sz="1500" b="1">
                <a:solidFill>
                  <a:srgbClr val="FFFFFF"/>
                </a:solidFill>
                <a:latin typeface="Calibri"/>
              </a:defRPr>
            </a:pPr>
            <a:r>
              <a:t>Kết hợp AI + Gamification</a:t>
            </a:r>
          </a:p>
          <a:p>
            <a:pPr algn="l">
              <a:spcAft>
                <a:spcPts val="400"/>
              </a:spcAft>
              <a:defRPr sz="1500" b="0">
                <a:solidFill>
                  <a:srgbClr val="CCD5E0"/>
                </a:solidFill>
                <a:latin typeface="Calibri"/>
              </a:defRPr>
            </a:pPr>
            <a:r>
              <a:t>Gợi ý sách cá nhân hóa</a:t>
            </a:r>
          </a:p>
          <a:p>
            <a:pPr algn="l">
              <a:spcAft>
                <a:spcPts val="400"/>
              </a:spcAft>
              <a:defRPr sz="1500" b="0">
                <a:solidFill>
                  <a:srgbClr val="CCD5E0"/>
                </a:solidFill>
                <a:latin typeface="Calibri"/>
              </a:defRPr>
            </a:pPr>
            <a:r>
              <a:t>Hệ thống nhiệm vụ &amp; thử thách</a:t>
            </a:r>
          </a:p>
          <a:p>
            <a:pPr algn="l">
              <a:spcAft>
                <a:spcPts val="400"/>
              </a:spcAft>
              <a:defRPr sz="1500" b="0">
                <a:solidFill>
                  <a:srgbClr val="CCD5E0"/>
                </a:solidFill>
                <a:latin typeface="Calibri"/>
              </a:defRPr>
            </a:pPr>
            <a:r>
              <a:t>Theo dõi chuỗi ngày đọc</a:t>
            </a:r>
          </a:p>
          <a:p>
            <a:pPr algn="l">
              <a:spcAft>
                <a:spcPts val="400"/>
              </a:spcAft>
              <a:defRPr sz="1500" b="0">
                <a:solidFill>
                  <a:srgbClr val="CCD5E0"/>
                </a:solidFill>
                <a:latin typeface="Calibri"/>
              </a:defRPr>
            </a:pPr>
            <a:r>
              <a:t>Bảng xếp hạng &amp; danh hiệu</a:t>
            </a:r>
          </a:p>
          <a:p>
            <a:pPr algn="l">
              <a:spcAft>
                <a:spcPts val="400"/>
              </a:spcAft>
              <a:defRPr sz="1500" b="0">
                <a:solidFill>
                  <a:srgbClr val="CCD5E0"/>
                </a:solidFill>
                <a:latin typeface="Calibri"/>
              </a:defRPr>
            </a:pPr>
            <a:r>
              <a:t>Cộng đồng đọc sách năng động</a:t>
            </a:r>
          </a:p>
        </p:txBody>
      </p:sp>
      <p:sp>
        <p:nvSpPr>
          <p:cNvPr id="21" name="TextBox 20"/>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4 / 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Mục tiêu và sứ mệnh</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737360"/>
            <a:ext cx="338328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48840" y="2103120"/>
            <a:ext cx="914400" cy="91440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pu.png"/>
          <p:cNvPicPr>
            <a:picLocks noChangeAspect="1"/>
          </p:cNvPicPr>
          <p:nvPr/>
        </p:nvPicPr>
        <p:blipFill>
          <a:blip r:embed="rId2">
            <a:lum bright="70000" contrast="-70000"/>
          </a:blip>
          <a:stretch>
            <a:fillRect/>
          </a:stretch>
        </p:blipFill>
        <p:spPr>
          <a:xfrm>
            <a:off x="2286000" y="2240280"/>
            <a:ext cx="640080" cy="640080"/>
          </a:xfrm>
          <a:prstGeom prst="rect">
            <a:avLst/>
          </a:prstGeom>
        </p:spPr>
      </p:pic>
      <p:sp>
        <p:nvSpPr>
          <p:cNvPr id="8" name="TextBox 7"/>
          <p:cNvSpPr txBox="1"/>
          <p:nvPr/>
        </p:nvSpPr>
        <p:spPr>
          <a:xfrm>
            <a:off x="1188720" y="3291840"/>
            <a:ext cx="2834640" cy="914400"/>
          </a:xfrm>
          <a:prstGeom prst="rect">
            <a:avLst/>
          </a:prstGeom>
          <a:noFill/>
        </p:spPr>
        <p:txBody>
          <a:bodyPr wrap="square">
            <a:spAutoFit/>
          </a:bodyPr>
          <a:lstStyle/>
          <a:p>
            <a:pPr algn="ctr">
              <a:defRPr sz="1800" b="1" i="0">
                <a:solidFill>
                  <a:srgbClr val="1A3C6E"/>
                </a:solidFill>
                <a:latin typeface="Calibri"/>
              </a:defRPr>
            </a:pPr>
            <a:r>
              <a:t>Cá nhân hóa</a:t>
            </a:r>
            <a:br/>
            <a:r>
              <a:t>trải nghiệm đọc</a:t>
            </a:r>
          </a:p>
        </p:txBody>
      </p:sp>
      <p:sp>
        <p:nvSpPr>
          <p:cNvPr id="9" name="TextBox 8"/>
          <p:cNvSpPr txBox="1"/>
          <p:nvPr/>
        </p:nvSpPr>
        <p:spPr>
          <a:xfrm>
            <a:off x="1188720" y="4389120"/>
            <a:ext cx="2834640" cy="1371600"/>
          </a:xfrm>
          <a:prstGeom prst="rect">
            <a:avLst/>
          </a:prstGeom>
          <a:noFill/>
        </p:spPr>
        <p:txBody>
          <a:bodyPr wrap="square">
            <a:spAutoFit/>
          </a:bodyPr>
          <a:lstStyle/>
          <a:p>
            <a:pPr algn="ctr">
              <a:defRPr sz="1400" b="0" i="0">
                <a:solidFill>
                  <a:srgbClr val="6B7280"/>
                </a:solidFill>
                <a:latin typeface="Calibri"/>
              </a:defRPr>
            </a:pPr>
            <a:r>
              <a:t>AI thấu hiểu sở thích, tâm trạng</a:t>
            </a:r>
            <a:br/>
            <a:r>
              <a:t>và độ tuổi từng người, đưa ra</a:t>
            </a:r>
            <a:br/>
            <a:r>
              <a:t>gợi ý sách chính xác nhất.</a:t>
            </a:r>
          </a:p>
        </p:txBody>
      </p:sp>
      <p:sp>
        <p:nvSpPr>
          <p:cNvPr id="10" name="Rounded Rectangle 9"/>
          <p:cNvSpPr/>
          <p:nvPr/>
        </p:nvSpPr>
        <p:spPr>
          <a:xfrm>
            <a:off x="4663439" y="1737360"/>
            <a:ext cx="338328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97879" y="2103120"/>
            <a:ext cx="914400" cy="91440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arget.png"/>
          <p:cNvPicPr>
            <a:picLocks noChangeAspect="1"/>
          </p:cNvPicPr>
          <p:nvPr/>
        </p:nvPicPr>
        <p:blipFill>
          <a:blip r:embed="rId3"/>
          <a:stretch>
            <a:fillRect/>
          </a:stretch>
        </p:blipFill>
        <p:spPr>
          <a:xfrm>
            <a:off x="6035039" y="2240280"/>
            <a:ext cx="640080" cy="640080"/>
          </a:xfrm>
          <a:prstGeom prst="rect">
            <a:avLst/>
          </a:prstGeom>
        </p:spPr>
      </p:pic>
      <p:sp>
        <p:nvSpPr>
          <p:cNvPr id="13" name="TextBox 12"/>
          <p:cNvSpPr txBox="1"/>
          <p:nvPr/>
        </p:nvSpPr>
        <p:spPr>
          <a:xfrm>
            <a:off x="4937759" y="3291840"/>
            <a:ext cx="2834640" cy="914400"/>
          </a:xfrm>
          <a:prstGeom prst="rect">
            <a:avLst/>
          </a:prstGeom>
          <a:noFill/>
        </p:spPr>
        <p:txBody>
          <a:bodyPr wrap="square">
            <a:spAutoFit/>
          </a:bodyPr>
          <a:lstStyle/>
          <a:p>
            <a:pPr algn="ctr">
              <a:defRPr sz="1800" b="1" i="0">
                <a:solidFill>
                  <a:srgbClr val="2D5F8A"/>
                </a:solidFill>
                <a:latin typeface="Calibri"/>
              </a:defRPr>
            </a:pPr>
            <a:r>
              <a:t>Xây dựng</a:t>
            </a:r>
            <a:br/>
            <a:r>
              <a:t>thói quen bền vững</a:t>
            </a:r>
          </a:p>
        </p:txBody>
      </p:sp>
      <p:sp>
        <p:nvSpPr>
          <p:cNvPr id="14" name="TextBox 13"/>
          <p:cNvSpPr txBox="1"/>
          <p:nvPr/>
        </p:nvSpPr>
        <p:spPr>
          <a:xfrm>
            <a:off x="4937759" y="4389120"/>
            <a:ext cx="2834640" cy="1371600"/>
          </a:xfrm>
          <a:prstGeom prst="rect">
            <a:avLst/>
          </a:prstGeom>
          <a:noFill/>
        </p:spPr>
        <p:txBody>
          <a:bodyPr wrap="square">
            <a:spAutoFit/>
          </a:bodyPr>
          <a:lstStyle/>
          <a:p>
            <a:pPr algn="ctr">
              <a:defRPr sz="1400" b="0" i="0">
                <a:solidFill>
                  <a:srgbClr val="6B7280"/>
                </a:solidFill>
                <a:latin typeface="Calibri"/>
              </a:defRPr>
            </a:pPr>
            <a:r>
              <a:t>Hệ thống mục tiêu, thử thách,</a:t>
            </a:r>
            <a:br/>
            <a:r>
              <a:t>theo dõi chuỗi ngày đọc giúp</a:t>
            </a:r>
            <a:br/>
            <a:r>
              <a:t>hình thành thói quen đều đặn.</a:t>
            </a:r>
          </a:p>
        </p:txBody>
      </p:sp>
      <p:sp>
        <p:nvSpPr>
          <p:cNvPr id="15" name="Rounded Rectangle 14"/>
          <p:cNvSpPr/>
          <p:nvPr/>
        </p:nvSpPr>
        <p:spPr>
          <a:xfrm>
            <a:off x="8412478" y="1737360"/>
            <a:ext cx="338328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646918" y="2103120"/>
            <a:ext cx="914400" cy="914400"/>
          </a:xfrm>
          <a:prstGeom prst="ellipse">
            <a:avLst/>
          </a:prstGeom>
          <a:solidFill>
            <a:srgbClr val="4A90D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lobe.png"/>
          <p:cNvPicPr>
            <a:picLocks noChangeAspect="1"/>
          </p:cNvPicPr>
          <p:nvPr/>
        </p:nvPicPr>
        <p:blipFill>
          <a:blip r:embed="rId4"/>
          <a:stretch>
            <a:fillRect/>
          </a:stretch>
        </p:blipFill>
        <p:spPr>
          <a:xfrm>
            <a:off x="9784078" y="2240280"/>
            <a:ext cx="640080" cy="640080"/>
          </a:xfrm>
          <a:prstGeom prst="rect">
            <a:avLst/>
          </a:prstGeom>
        </p:spPr>
      </p:pic>
      <p:sp>
        <p:nvSpPr>
          <p:cNvPr id="18" name="TextBox 17"/>
          <p:cNvSpPr txBox="1"/>
          <p:nvPr/>
        </p:nvSpPr>
        <p:spPr>
          <a:xfrm>
            <a:off x="8686798" y="3291840"/>
            <a:ext cx="2834640" cy="914400"/>
          </a:xfrm>
          <a:prstGeom prst="rect">
            <a:avLst/>
          </a:prstGeom>
          <a:noFill/>
        </p:spPr>
        <p:txBody>
          <a:bodyPr wrap="square">
            <a:spAutoFit/>
          </a:bodyPr>
          <a:lstStyle/>
          <a:p>
            <a:pPr algn="ctr">
              <a:defRPr sz="1800" b="1" i="0">
                <a:solidFill>
                  <a:srgbClr val="4A90D9"/>
                </a:solidFill>
                <a:latin typeface="Calibri"/>
              </a:defRPr>
            </a:pPr>
            <a:r>
              <a:t>Tạo dựng</a:t>
            </a:r>
            <a:br/>
            <a:r>
              <a:t>cộng đồng đọc</a:t>
            </a:r>
          </a:p>
        </p:txBody>
      </p:sp>
      <p:sp>
        <p:nvSpPr>
          <p:cNvPr id="19" name="TextBox 18"/>
          <p:cNvSpPr txBox="1"/>
          <p:nvPr/>
        </p:nvSpPr>
        <p:spPr>
          <a:xfrm>
            <a:off x="8686798" y="4389120"/>
            <a:ext cx="2834640" cy="1371600"/>
          </a:xfrm>
          <a:prstGeom prst="rect">
            <a:avLst/>
          </a:prstGeom>
          <a:noFill/>
        </p:spPr>
        <p:txBody>
          <a:bodyPr wrap="square">
            <a:spAutoFit/>
          </a:bodyPr>
          <a:lstStyle/>
          <a:p>
            <a:pPr algn="ctr">
              <a:defRPr sz="1400" b="0" i="0">
                <a:solidFill>
                  <a:srgbClr val="6B7280"/>
                </a:solidFill>
                <a:latin typeface="Calibri"/>
              </a:defRPr>
            </a:pPr>
            <a:r>
              <a:t>Bảng xếp hạng, danh hiệu</a:t>
            </a:r>
            <a:br/>
            <a:r>
              <a:t>và thử thách chung tạo nên</a:t>
            </a:r>
            <a:br/>
            <a:r>
              <a:t>sân chơi lành mạnh.</a:t>
            </a:r>
          </a:p>
        </p:txBody>
      </p:sp>
      <p:sp>
        <p:nvSpPr>
          <p:cNvPr id="20" name="TextBox 19"/>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5 / 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Đối tượng hướng đến</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058400" cy="548640"/>
          </a:xfrm>
          <a:prstGeom prst="rect">
            <a:avLst/>
          </a:prstGeom>
          <a:noFill/>
        </p:spPr>
        <p:txBody>
          <a:bodyPr wrap="square">
            <a:spAutoFit/>
          </a:bodyPr>
          <a:lstStyle/>
          <a:p>
            <a:pPr algn="l">
              <a:defRPr sz="2000" b="1" i="0">
                <a:solidFill>
                  <a:srgbClr val="1A3C6E"/>
                </a:solidFill>
                <a:latin typeface="Calibri"/>
              </a:defRPr>
            </a:pPr>
            <a:r>
              <a:t>Book Match được thiết kế dành cho:</a:t>
            </a:r>
          </a:p>
        </p:txBody>
      </p:sp>
      <p:sp>
        <p:nvSpPr>
          <p:cNvPr id="6" name="Rounded Rectangle 5"/>
          <p:cNvSpPr/>
          <p:nvPr/>
        </p:nvSpPr>
        <p:spPr>
          <a:xfrm>
            <a:off x="914400" y="2560320"/>
            <a:ext cx="3383280" cy="347472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chool.png"/>
          <p:cNvPicPr>
            <a:picLocks noChangeAspect="1"/>
          </p:cNvPicPr>
          <p:nvPr/>
        </p:nvPicPr>
        <p:blipFill>
          <a:blip r:embed="rId2"/>
          <a:stretch>
            <a:fillRect/>
          </a:stretch>
        </p:blipFill>
        <p:spPr>
          <a:xfrm>
            <a:off x="2286000" y="2743200"/>
            <a:ext cx="548640" cy="548640"/>
          </a:xfrm>
          <a:prstGeom prst="rect">
            <a:avLst/>
          </a:prstGeom>
        </p:spPr>
      </p:pic>
      <p:sp>
        <p:nvSpPr>
          <p:cNvPr id="8" name="TextBox 7"/>
          <p:cNvSpPr txBox="1"/>
          <p:nvPr/>
        </p:nvSpPr>
        <p:spPr>
          <a:xfrm>
            <a:off x="1188720" y="3474720"/>
            <a:ext cx="2834640" cy="822960"/>
          </a:xfrm>
          <a:prstGeom prst="rect">
            <a:avLst/>
          </a:prstGeom>
          <a:noFill/>
        </p:spPr>
        <p:txBody>
          <a:bodyPr wrap="square">
            <a:spAutoFit/>
          </a:bodyPr>
          <a:lstStyle/>
          <a:p>
            <a:pPr algn="ctr">
              <a:defRPr sz="1600" b="1" i="0">
                <a:solidFill>
                  <a:srgbClr val="1A3C6E"/>
                </a:solidFill>
                <a:latin typeface="Calibri"/>
              </a:defRPr>
            </a:pPr>
            <a:r>
              <a:t>Sinh viên Đại học</a:t>
            </a:r>
            <a:br/>
            <a:r>
              <a:t>Thủ Dầu Một</a:t>
            </a:r>
          </a:p>
        </p:txBody>
      </p:sp>
      <p:sp>
        <p:nvSpPr>
          <p:cNvPr id="9" name="Rectangle 8"/>
          <p:cNvSpPr/>
          <p:nvPr/>
        </p:nvSpPr>
        <p:spPr>
          <a:xfrm>
            <a:off x="1828800" y="4297680"/>
            <a:ext cx="155448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4480560"/>
            <a:ext cx="2834640" cy="1371600"/>
          </a:xfrm>
          <a:prstGeom prst="rect">
            <a:avLst/>
          </a:prstGeom>
          <a:noFill/>
        </p:spPr>
        <p:txBody>
          <a:bodyPr wrap="square">
            <a:spAutoFit/>
          </a:bodyPr>
          <a:lstStyle/>
          <a:p>
            <a:pPr algn="ctr">
              <a:defRPr sz="1400" b="0" i="0">
                <a:solidFill>
                  <a:srgbClr val="6B7280"/>
                </a:solidFill>
                <a:latin typeface="Calibri"/>
              </a:defRPr>
            </a:pPr>
            <a:r>
              <a:t>Đối tượng chính, trực tiếp</a:t>
            </a:r>
            <a:br/>
            <a:r>
              <a:t>tham gia phong trào đọc sách</a:t>
            </a:r>
            <a:br/>
            <a:r>
              <a:t>trong nhà trường</a:t>
            </a:r>
          </a:p>
        </p:txBody>
      </p:sp>
      <p:sp>
        <p:nvSpPr>
          <p:cNvPr id="11" name="Rounded Rectangle 10"/>
          <p:cNvSpPr/>
          <p:nvPr/>
        </p:nvSpPr>
        <p:spPr>
          <a:xfrm>
            <a:off x="4663439" y="2560320"/>
            <a:ext cx="3383280" cy="347472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user.png"/>
          <p:cNvPicPr>
            <a:picLocks noChangeAspect="1"/>
          </p:cNvPicPr>
          <p:nvPr/>
        </p:nvPicPr>
        <p:blipFill>
          <a:blip r:embed="rId3"/>
          <a:stretch>
            <a:fillRect/>
          </a:stretch>
        </p:blipFill>
        <p:spPr>
          <a:xfrm>
            <a:off x="6035039" y="2743200"/>
            <a:ext cx="548640" cy="548640"/>
          </a:xfrm>
          <a:prstGeom prst="rect">
            <a:avLst/>
          </a:prstGeom>
        </p:spPr>
      </p:pic>
      <p:sp>
        <p:nvSpPr>
          <p:cNvPr id="13" name="TextBox 12"/>
          <p:cNvSpPr txBox="1"/>
          <p:nvPr/>
        </p:nvSpPr>
        <p:spPr>
          <a:xfrm>
            <a:off x="4937759" y="3474720"/>
            <a:ext cx="2834640" cy="822960"/>
          </a:xfrm>
          <a:prstGeom prst="rect">
            <a:avLst/>
          </a:prstGeom>
          <a:noFill/>
        </p:spPr>
        <p:txBody>
          <a:bodyPr wrap="square">
            <a:spAutoFit/>
          </a:bodyPr>
          <a:lstStyle/>
          <a:p>
            <a:pPr algn="ctr">
              <a:defRPr sz="1600" b="1" i="0">
                <a:solidFill>
                  <a:srgbClr val="1A3C6E"/>
                </a:solidFill>
                <a:latin typeface="Calibri"/>
              </a:defRPr>
            </a:pPr>
            <a:r>
              <a:t>Bạn đọc trẻ</a:t>
            </a:r>
            <a:br/>
            <a:r>
              <a:t>tuổi</a:t>
            </a:r>
          </a:p>
        </p:txBody>
      </p:sp>
      <p:sp>
        <p:nvSpPr>
          <p:cNvPr id="14" name="Rectangle 13"/>
          <p:cNvSpPr/>
          <p:nvPr/>
        </p:nvSpPr>
        <p:spPr>
          <a:xfrm>
            <a:off x="5577839" y="4297680"/>
            <a:ext cx="155448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59" y="4480560"/>
            <a:ext cx="2834640" cy="1371600"/>
          </a:xfrm>
          <a:prstGeom prst="rect">
            <a:avLst/>
          </a:prstGeom>
          <a:noFill/>
        </p:spPr>
        <p:txBody>
          <a:bodyPr wrap="square">
            <a:spAutoFit/>
          </a:bodyPr>
          <a:lstStyle/>
          <a:p>
            <a:pPr algn="ctr">
              <a:defRPr sz="1400" b="0" i="0">
                <a:solidFill>
                  <a:srgbClr val="6B7280"/>
                </a:solidFill>
                <a:latin typeface="Calibri"/>
              </a:defRPr>
            </a:pPr>
            <a:r>
              <a:t>Những người muốn xây dựng</a:t>
            </a:r>
            <a:br/>
            <a:r>
              <a:t>thói quen đọc nhưng chưa</a:t>
            </a:r>
            <a:br/>
            <a:r>
              <a:t>biết bắt đầu từ đâu</a:t>
            </a:r>
          </a:p>
        </p:txBody>
      </p:sp>
      <p:sp>
        <p:nvSpPr>
          <p:cNvPr id="16" name="Rounded Rectangle 15"/>
          <p:cNvSpPr/>
          <p:nvPr/>
        </p:nvSpPr>
        <p:spPr>
          <a:xfrm>
            <a:off x="8412478" y="2560320"/>
            <a:ext cx="3383280" cy="347472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tar.png"/>
          <p:cNvPicPr>
            <a:picLocks noChangeAspect="1"/>
          </p:cNvPicPr>
          <p:nvPr/>
        </p:nvPicPr>
        <p:blipFill>
          <a:blip r:embed="rId4"/>
          <a:stretch>
            <a:fillRect/>
          </a:stretch>
        </p:blipFill>
        <p:spPr>
          <a:xfrm>
            <a:off x="9784078" y="2743200"/>
            <a:ext cx="548640" cy="548640"/>
          </a:xfrm>
          <a:prstGeom prst="rect">
            <a:avLst/>
          </a:prstGeom>
        </p:spPr>
      </p:pic>
      <p:sp>
        <p:nvSpPr>
          <p:cNvPr id="18" name="TextBox 17"/>
          <p:cNvSpPr txBox="1"/>
          <p:nvPr/>
        </p:nvSpPr>
        <p:spPr>
          <a:xfrm>
            <a:off x="8686798" y="3474720"/>
            <a:ext cx="2834640" cy="822960"/>
          </a:xfrm>
          <a:prstGeom prst="rect">
            <a:avLst/>
          </a:prstGeom>
          <a:noFill/>
        </p:spPr>
        <p:txBody>
          <a:bodyPr wrap="square">
            <a:spAutoFit/>
          </a:bodyPr>
          <a:lstStyle/>
          <a:p>
            <a:pPr algn="ctr">
              <a:defRPr sz="1600" b="1" i="0">
                <a:solidFill>
                  <a:srgbClr val="1A3C6E"/>
                </a:solidFill>
                <a:latin typeface="Calibri"/>
              </a:defRPr>
            </a:pPr>
            <a:r>
              <a:t>Người đọc</a:t>
            </a:r>
            <a:br/>
            <a:r>
              <a:t>có kinh nghiệm</a:t>
            </a:r>
          </a:p>
        </p:txBody>
      </p:sp>
      <p:sp>
        <p:nvSpPr>
          <p:cNvPr id="19" name="Rectangle 18"/>
          <p:cNvSpPr/>
          <p:nvPr/>
        </p:nvSpPr>
        <p:spPr>
          <a:xfrm>
            <a:off x="9326878" y="4297680"/>
            <a:ext cx="155448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798" y="4480560"/>
            <a:ext cx="2834640" cy="1371600"/>
          </a:xfrm>
          <a:prstGeom prst="rect">
            <a:avLst/>
          </a:prstGeom>
          <a:noFill/>
        </p:spPr>
        <p:txBody>
          <a:bodyPr wrap="square">
            <a:spAutoFit/>
          </a:bodyPr>
          <a:lstStyle/>
          <a:p>
            <a:pPr algn="ctr">
              <a:defRPr sz="1400" b="0" i="0">
                <a:solidFill>
                  <a:srgbClr val="6B7280"/>
                </a:solidFill>
                <a:latin typeface="Calibri"/>
              </a:defRPr>
            </a:pPr>
            <a:r>
              <a:t>Muốn khám phá thêm nhiều</a:t>
            </a:r>
            <a:br/>
            <a:r>
              <a:t>đầu sách mới và kết nối với</a:t>
            </a:r>
            <a:br/>
            <a:r>
              <a:t>cộng đồng yêu sách</a:t>
            </a:r>
          </a:p>
        </p:txBody>
      </p:sp>
      <p:sp>
        <p:nvSpPr>
          <p:cNvPr id="21" name="TextBox 20"/>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6 / 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731520"/>
          </a:xfrm>
          <a:prstGeom prst="rect">
            <a:avLst/>
          </a:prstGeom>
          <a:noFill/>
        </p:spPr>
        <p:txBody>
          <a:bodyPr wrap="square">
            <a:spAutoFit/>
          </a:bodyPr>
          <a:lstStyle/>
          <a:p>
            <a:pPr algn="l">
              <a:defRPr sz="7200" b="1" i="0">
                <a:solidFill>
                  <a:srgbClr val="FFFFFF"/>
                </a:solidFill>
                <a:latin typeface="Calibri"/>
              </a:defRPr>
            </a:pPr>
            <a:r>
              <a:t>02</a:t>
            </a:r>
          </a:p>
        </p:txBody>
      </p:sp>
      <p:sp>
        <p:nvSpPr>
          <p:cNvPr id="4" name="Rectangle 3"/>
          <p:cNvSpPr/>
          <p:nvPr/>
        </p:nvSpPr>
        <p:spPr>
          <a:xfrm>
            <a:off x="914400" y="2926080"/>
            <a:ext cx="22860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291840"/>
            <a:ext cx="10058400" cy="1097280"/>
          </a:xfrm>
          <a:prstGeom prst="rect">
            <a:avLst/>
          </a:prstGeom>
          <a:noFill/>
        </p:spPr>
        <p:txBody>
          <a:bodyPr wrap="square">
            <a:spAutoFit/>
          </a:bodyPr>
          <a:lstStyle/>
          <a:p>
            <a:pPr algn="l">
              <a:defRPr sz="3600" b="1" i="0">
                <a:solidFill>
                  <a:srgbClr val="FFFFFF"/>
                </a:solidFill>
                <a:latin typeface="Calibri"/>
              </a:defRPr>
            </a:pPr>
            <a:r>
              <a:t>Vai trò của AI trong văn hóa đọc</a:t>
            </a:r>
          </a:p>
        </p:txBody>
      </p:sp>
      <p:sp>
        <p:nvSpPr>
          <p:cNvPr id="6" name="TextBox 5"/>
          <p:cNvSpPr txBox="1"/>
          <p:nvPr/>
        </p:nvSpPr>
        <p:spPr>
          <a:xfrm>
            <a:off x="914400" y="4389120"/>
            <a:ext cx="10058400" cy="548640"/>
          </a:xfrm>
          <a:prstGeom prst="rect">
            <a:avLst/>
          </a:prstGeom>
          <a:noFill/>
        </p:spPr>
        <p:txBody>
          <a:bodyPr wrap="square">
            <a:spAutoFit/>
          </a:bodyPr>
          <a:lstStyle/>
          <a:p>
            <a:pPr algn="l">
              <a:defRPr sz="1800" b="0" i="0">
                <a:solidFill>
                  <a:srgbClr val="CCD5E0"/>
                </a:solidFill>
                <a:latin typeface="Calibri"/>
              </a:defRPr>
            </a:pPr>
            <a:r>
              <a:t>Thách thức, cơ hội và cơ chế gợi ý thông minh</a:t>
            </a:r>
          </a:p>
        </p:txBody>
      </p:sp>
      <p:sp>
        <p:nvSpPr>
          <p:cNvPr id="7" name="TextBox 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7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Thách thức của văn hóa đọc thời đại số</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029200" cy="1280160"/>
          </a:xfrm>
          <a:prstGeom prst="roundRect">
            <a:avLst/>
          </a:prstGeom>
          <a:solidFill>
            <a:srgbClr val="F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zap.png"/>
          <p:cNvPicPr>
            <a:picLocks noChangeAspect="1"/>
          </p:cNvPicPr>
          <p:nvPr/>
        </p:nvPicPr>
        <p:blipFill>
          <a:blip r:embed="rId2"/>
          <a:stretch>
            <a:fillRect/>
          </a:stretch>
        </p:blipFill>
        <p:spPr>
          <a:xfrm>
            <a:off x="1005840" y="1965960"/>
            <a:ext cx="457200" cy="457200"/>
          </a:xfrm>
          <a:prstGeom prst="rect">
            <a:avLst/>
          </a:prstGeom>
        </p:spPr>
      </p:pic>
      <p:sp>
        <p:nvSpPr>
          <p:cNvPr id="7" name="TextBox 6"/>
          <p:cNvSpPr txBox="1"/>
          <p:nvPr/>
        </p:nvSpPr>
        <p:spPr>
          <a:xfrm>
            <a:off x="1645920" y="1737360"/>
            <a:ext cx="1097280" cy="457200"/>
          </a:xfrm>
          <a:prstGeom prst="rect">
            <a:avLst/>
          </a:prstGeom>
          <a:noFill/>
        </p:spPr>
        <p:txBody>
          <a:bodyPr wrap="square">
            <a:spAutoFit/>
          </a:bodyPr>
          <a:lstStyle/>
          <a:p>
            <a:pPr algn="l">
              <a:defRPr sz="1500" b="1" i="0">
                <a:solidFill>
                  <a:srgbClr val="E74C3C"/>
                </a:solidFill>
                <a:latin typeface="Calibri"/>
              </a:defRPr>
            </a:pPr>
            <a:r>
              <a:t>Cạnh tranh</a:t>
            </a:r>
          </a:p>
        </p:txBody>
      </p:sp>
      <p:sp>
        <p:nvSpPr>
          <p:cNvPr id="8" name="TextBox 7"/>
          <p:cNvSpPr txBox="1"/>
          <p:nvPr/>
        </p:nvSpPr>
        <p:spPr>
          <a:xfrm>
            <a:off x="2926080" y="1737360"/>
            <a:ext cx="2651760" cy="1005840"/>
          </a:xfrm>
          <a:prstGeom prst="rect">
            <a:avLst/>
          </a:prstGeom>
          <a:noFill/>
        </p:spPr>
        <p:txBody>
          <a:bodyPr wrap="square">
            <a:spAutoFit/>
          </a:bodyPr>
          <a:lstStyle/>
          <a:p>
            <a:pPr algn="l">
              <a:defRPr sz="1300" b="0" i="0">
                <a:solidFill>
                  <a:srgbClr val="1E1E1E"/>
                </a:solidFill>
                <a:latin typeface="Calibri"/>
              </a:defRPr>
            </a:pPr>
            <a:r>
              <a:t>Mạng xã hội, video ngắn và các</a:t>
            </a:r>
            <a:br/>
            <a:r>
              <a:t>hình thức giải trí nhanh chiếm</a:t>
            </a:r>
            <a:br/>
            <a:r>
              <a:t>phần lớn thời gian giới trẻ</a:t>
            </a:r>
          </a:p>
        </p:txBody>
      </p:sp>
      <p:sp>
        <p:nvSpPr>
          <p:cNvPr id="9" name="Rounded Rectangle 8"/>
          <p:cNvSpPr/>
          <p:nvPr/>
        </p:nvSpPr>
        <p:spPr>
          <a:xfrm>
            <a:off x="731520" y="3200400"/>
            <a:ext cx="5029200" cy="1280160"/>
          </a:xfrm>
          <a:prstGeom prst="roundRect">
            <a:avLst/>
          </a:prstGeom>
          <a:solidFill>
            <a:srgbClr val="F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ompass.png"/>
          <p:cNvPicPr>
            <a:picLocks noChangeAspect="1"/>
          </p:cNvPicPr>
          <p:nvPr/>
        </p:nvPicPr>
        <p:blipFill>
          <a:blip r:embed="rId3"/>
          <a:stretch>
            <a:fillRect/>
          </a:stretch>
        </p:blipFill>
        <p:spPr>
          <a:xfrm>
            <a:off x="1005840" y="3520440"/>
            <a:ext cx="457200" cy="457200"/>
          </a:xfrm>
          <a:prstGeom prst="rect">
            <a:avLst/>
          </a:prstGeom>
        </p:spPr>
      </p:pic>
      <p:sp>
        <p:nvSpPr>
          <p:cNvPr id="11" name="TextBox 10"/>
          <p:cNvSpPr txBox="1"/>
          <p:nvPr/>
        </p:nvSpPr>
        <p:spPr>
          <a:xfrm>
            <a:off x="1645920" y="3291840"/>
            <a:ext cx="1097280" cy="457200"/>
          </a:xfrm>
          <a:prstGeom prst="rect">
            <a:avLst/>
          </a:prstGeom>
          <a:noFill/>
        </p:spPr>
        <p:txBody>
          <a:bodyPr wrap="square">
            <a:spAutoFit/>
          </a:bodyPr>
          <a:lstStyle/>
          <a:p>
            <a:pPr algn="l">
              <a:defRPr sz="1500" b="1" i="0">
                <a:solidFill>
                  <a:srgbClr val="E74C3C"/>
                </a:solidFill>
                <a:latin typeface="Calibri"/>
              </a:defRPr>
            </a:pPr>
            <a:r>
              <a:t>Nghịch lý</a:t>
            </a:r>
            <a:br/>
            <a:r>
              <a:t>lựa chọn</a:t>
            </a:r>
          </a:p>
        </p:txBody>
      </p:sp>
      <p:sp>
        <p:nvSpPr>
          <p:cNvPr id="12" name="TextBox 11"/>
          <p:cNvSpPr txBox="1"/>
          <p:nvPr/>
        </p:nvSpPr>
        <p:spPr>
          <a:xfrm>
            <a:off x="2926080" y="3291840"/>
            <a:ext cx="2651760" cy="1005840"/>
          </a:xfrm>
          <a:prstGeom prst="rect">
            <a:avLst/>
          </a:prstGeom>
          <a:noFill/>
        </p:spPr>
        <p:txBody>
          <a:bodyPr wrap="square">
            <a:spAutoFit/>
          </a:bodyPr>
          <a:lstStyle/>
          <a:p>
            <a:pPr algn="l">
              <a:defRPr sz="1300" b="0" i="0">
                <a:solidFill>
                  <a:srgbClr val="1E1E1E"/>
                </a:solidFill>
                <a:latin typeface="Calibri"/>
              </a:defRPr>
            </a:pPr>
            <a:r>
              <a:t>Hàng ngàn đầu sách khiến người đọc</a:t>
            </a:r>
            <a:br/>
            <a:r>
              <a:t>bị choáng ngợp, không biết</a:t>
            </a:r>
            <a:br/>
            <a:r>
              <a:t>chọn cuốn nào</a:t>
            </a:r>
          </a:p>
        </p:txBody>
      </p:sp>
      <p:sp>
        <p:nvSpPr>
          <p:cNvPr id="13" name="Rounded Rectangle 12"/>
          <p:cNvSpPr/>
          <p:nvPr/>
        </p:nvSpPr>
        <p:spPr>
          <a:xfrm>
            <a:off x="731520" y="4754880"/>
            <a:ext cx="5029200" cy="1280160"/>
          </a:xfrm>
          <a:prstGeom prst="roundRect">
            <a:avLst/>
          </a:prstGeom>
          <a:solidFill>
            <a:srgbClr val="F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ye.png"/>
          <p:cNvPicPr>
            <a:picLocks noChangeAspect="1"/>
          </p:cNvPicPr>
          <p:nvPr/>
        </p:nvPicPr>
        <p:blipFill>
          <a:blip r:embed="rId4"/>
          <a:stretch>
            <a:fillRect/>
          </a:stretch>
        </p:blipFill>
        <p:spPr>
          <a:xfrm>
            <a:off x="1005840" y="5074920"/>
            <a:ext cx="457200" cy="457200"/>
          </a:xfrm>
          <a:prstGeom prst="rect">
            <a:avLst/>
          </a:prstGeom>
        </p:spPr>
      </p:pic>
      <p:sp>
        <p:nvSpPr>
          <p:cNvPr id="15" name="TextBox 14"/>
          <p:cNvSpPr txBox="1"/>
          <p:nvPr/>
        </p:nvSpPr>
        <p:spPr>
          <a:xfrm>
            <a:off x="1645920" y="4846320"/>
            <a:ext cx="1097280" cy="457200"/>
          </a:xfrm>
          <a:prstGeom prst="rect">
            <a:avLst/>
          </a:prstGeom>
          <a:noFill/>
        </p:spPr>
        <p:txBody>
          <a:bodyPr wrap="square">
            <a:spAutoFit/>
          </a:bodyPr>
          <a:lstStyle/>
          <a:p>
            <a:pPr algn="l">
              <a:defRPr sz="1500" b="1" i="0">
                <a:solidFill>
                  <a:srgbClr val="E74C3C"/>
                </a:solidFill>
                <a:latin typeface="Calibri"/>
              </a:defRPr>
            </a:pPr>
            <a:r>
              <a:t>Thiếu</a:t>
            </a:r>
            <a:br/>
            <a:r>
              <a:t>định hướng</a:t>
            </a:r>
          </a:p>
        </p:txBody>
      </p:sp>
      <p:sp>
        <p:nvSpPr>
          <p:cNvPr id="16" name="TextBox 15"/>
          <p:cNvSpPr txBox="1"/>
          <p:nvPr/>
        </p:nvSpPr>
        <p:spPr>
          <a:xfrm>
            <a:off x="2926080" y="4846320"/>
            <a:ext cx="2651760" cy="1005840"/>
          </a:xfrm>
          <a:prstGeom prst="rect">
            <a:avLst/>
          </a:prstGeom>
          <a:noFill/>
        </p:spPr>
        <p:txBody>
          <a:bodyPr wrap="square">
            <a:spAutoFit/>
          </a:bodyPr>
          <a:lstStyle/>
          <a:p>
            <a:pPr algn="l">
              <a:defRPr sz="1300" b="0" i="0">
                <a:solidFill>
                  <a:srgbClr val="1E1E1E"/>
                </a:solidFill>
                <a:latin typeface="Calibri"/>
              </a:defRPr>
            </a:pPr>
            <a:r>
              <a:t>Không có người hướng dẫn,</a:t>
            </a:r>
            <a:br/>
            <a:r>
              <a:t>người bạn đồng hành giới thiệu</a:t>
            </a:r>
            <a:br/>
            <a:r>
              <a:t>sách phù hợp</a:t>
            </a:r>
          </a:p>
        </p:txBody>
      </p:sp>
      <p:sp>
        <p:nvSpPr>
          <p:cNvPr id="17" name="Rounded Rectangle 16"/>
          <p:cNvSpPr/>
          <p:nvPr/>
        </p:nvSpPr>
        <p:spPr>
          <a:xfrm>
            <a:off x="6858000" y="1645920"/>
            <a:ext cx="4572000" cy="457200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1920240"/>
            <a:ext cx="4114800" cy="457200"/>
          </a:xfrm>
          <a:prstGeom prst="rect">
            <a:avLst/>
          </a:prstGeom>
          <a:noFill/>
        </p:spPr>
        <p:txBody>
          <a:bodyPr wrap="square">
            <a:spAutoFit/>
          </a:bodyPr>
          <a:lstStyle/>
          <a:p>
            <a:pPr algn="l">
              <a:defRPr sz="2200" b="1" i="0">
                <a:solidFill>
                  <a:srgbClr val="FFFFFF"/>
                </a:solidFill>
                <a:latin typeface="Calibri"/>
              </a:defRPr>
            </a:pPr>
            <a:r>
              <a:t>AI là giải pháp</a:t>
            </a:r>
          </a:p>
        </p:txBody>
      </p:sp>
      <p:sp>
        <p:nvSpPr>
          <p:cNvPr id="19" name="Rectangle 18"/>
          <p:cNvSpPr/>
          <p:nvPr/>
        </p:nvSpPr>
        <p:spPr>
          <a:xfrm>
            <a:off x="7132320" y="2468880"/>
            <a:ext cx="137160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art.png"/>
          <p:cNvPicPr>
            <a:picLocks noChangeAspect="1"/>
          </p:cNvPicPr>
          <p:nvPr/>
        </p:nvPicPr>
        <p:blipFill>
          <a:blip r:embed="rId5"/>
          <a:stretch>
            <a:fillRect/>
          </a:stretch>
        </p:blipFill>
        <p:spPr>
          <a:xfrm>
            <a:off x="7269480" y="2926080"/>
            <a:ext cx="457200" cy="457200"/>
          </a:xfrm>
          <a:prstGeom prst="rect">
            <a:avLst/>
          </a:prstGeom>
        </p:spPr>
      </p:pic>
      <p:sp>
        <p:nvSpPr>
          <p:cNvPr id="21" name="TextBox 20"/>
          <p:cNvSpPr txBox="1"/>
          <p:nvPr/>
        </p:nvSpPr>
        <p:spPr>
          <a:xfrm>
            <a:off x="7040880" y="3474720"/>
            <a:ext cx="1097280" cy="731520"/>
          </a:xfrm>
          <a:prstGeom prst="rect">
            <a:avLst/>
          </a:prstGeom>
          <a:noFill/>
        </p:spPr>
        <p:txBody>
          <a:bodyPr wrap="square">
            <a:spAutoFit/>
          </a:bodyPr>
          <a:lstStyle/>
          <a:p>
            <a:pPr algn="ctr">
              <a:defRPr sz="1200" b="0" i="0">
                <a:solidFill>
                  <a:srgbClr val="CCD5E0"/>
                </a:solidFill>
                <a:latin typeface="Calibri"/>
              </a:defRPr>
            </a:pPr>
            <a:r>
              <a:t>Phân tích</a:t>
            </a:r>
            <a:br/>
            <a:r>
              <a:t>hành vi đọc</a:t>
            </a:r>
          </a:p>
        </p:txBody>
      </p:sp>
      <p:pic>
        <p:nvPicPr>
          <p:cNvPr id="22" name="Picture 21" descr="target.png"/>
          <p:cNvPicPr>
            <a:picLocks noChangeAspect="1"/>
          </p:cNvPicPr>
          <p:nvPr/>
        </p:nvPicPr>
        <p:blipFill>
          <a:blip r:embed="rId6"/>
          <a:stretch>
            <a:fillRect/>
          </a:stretch>
        </p:blipFill>
        <p:spPr>
          <a:xfrm>
            <a:off x="8366760" y="2926080"/>
            <a:ext cx="457200" cy="457200"/>
          </a:xfrm>
          <a:prstGeom prst="rect">
            <a:avLst/>
          </a:prstGeom>
        </p:spPr>
      </p:pic>
      <p:sp>
        <p:nvSpPr>
          <p:cNvPr id="23" name="TextBox 22"/>
          <p:cNvSpPr txBox="1"/>
          <p:nvPr/>
        </p:nvSpPr>
        <p:spPr>
          <a:xfrm>
            <a:off x="8138160" y="3474720"/>
            <a:ext cx="1097280" cy="731520"/>
          </a:xfrm>
          <a:prstGeom prst="rect">
            <a:avLst/>
          </a:prstGeom>
          <a:noFill/>
        </p:spPr>
        <p:txBody>
          <a:bodyPr wrap="square">
            <a:spAutoFit/>
          </a:bodyPr>
          <a:lstStyle/>
          <a:p>
            <a:pPr algn="ctr">
              <a:defRPr sz="1200" b="0" i="0">
                <a:solidFill>
                  <a:srgbClr val="CCD5E0"/>
                </a:solidFill>
                <a:latin typeface="Calibri"/>
              </a:defRPr>
            </a:pPr>
            <a:r>
              <a:t>Cá nhân hóa</a:t>
            </a:r>
            <a:br/>
            <a:r>
              <a:t>gợi ý sách</a:t>
            </a:r>
          </a:p>
        </p:txBody>
      </p:sp>
      <p:pic>
        <p:nvPicPr>
          <p:cNvPr id="24" name="Picture 23" descr="clock.png"/>
          <p:cNvPicPr>
            <a:picLocks noChangeAspect="1"/>
          </p:cNvPicPr>
          <p:nvPr/>
        </p:nvPicPr>
        <p:blipFill>
          <a:blip r:embed="rId7"/>
          <a:stretch>
            <a:fillRect/>
          </a:stretch>
        </p:blipFill>
        <p:spPr>
          <a:xfrm>
            <a:off x="7269480" y="4297680"/>
            <a:ext cx="457200" cy="457200"/>
          </a:xfrm>
          <a:prstGeom prst="rect">
            <a:avLst/>
          </a:prstGeom>
        </p:spPr>
      </p:pic>
      <p:sp>
        <p:nvSpPr>
          <p:cNvPr id="25" name="TextBox 24"/>
          <p:cNvSpPr txBox="1"/>
          <p:nvPr/>
        </p:nvSpPr>
        <p:spPr>
          <a:xfrm>
            <a:off x="7040880" y="4846320"/>
            <a:ext cx="1097280" cy="731520"/>
          </a:xfrm>
          <a:prstGeom prst="rect">
            <a:avLst/>
          </a:prstGeom>
          <a:noFill/>
        </p:spPr>
        <p:txBody>
          <a:bodyPr wrap="square">
            <a:spAutoFit/>
          </a:bodyPr>
          <a:lstStyle/>
          <a:p>
            <a:pPr algn="ctr">
              <a:defRPr sz="1200" b="0" i="0">
                <a:solidFill>
                  <a:srgbClr val="CCD5E0"/>
                </a:solidFill>
                <a:latin typeface="Calibri"/>
              </a:defRPr>
            </a:pPr>
            <a:r>
              <a:t>Thích ứng</a:t>
            </a:r>
            <a:br/>
            <a:r>
              <a:t>theo thời gian</a:t>
            </a:r>
          </a:p>
        </p:txBody>
      </p:sp>
      <p:pic>
        <p:nvPicPr>
          <p:cNvPr id="26" name="Picture 25" descr="thumbs.png"/>
          <p:cNvPicPr>
            <a:picLocks noChangeAspect="1"/>
          </p:cNvPicPr>
          <p:nvPr/>
        </p:nvPicPr>
        <p:blipFill>
          <a:blip r:embed="rId8"/>
          <a:stretch>
            <a:fillRect/>
          </a:stretch>
        </p:blipFill>
        <p:spPr>
          <a:xfrm>
            <a:off x="8366760" y="4297680"/>
            <a:ext cx="457200" cy="457200"/>
          </a:xfrm>
          <a:prstGeom prst="rect">
            <a:avLst/>
          </a:prstGeom>
        </p:spPr>
      </p:pic>
      <p:sp>
        <p:nvSpPr>
          <p:cNvPr id="27" name="TextBox 26"/>
          <p:cNvSpPr txBox="1"/>
          <p:nvPr/>
        </p:nvSpPr>
        <p:spPr>
          <a:xfrm>
            <a:off x="8138160" y="4846320"/>
            <a:ext cx="1097280" cy="731520"/>
          </a:xfrm>
          <a:prstGeom prst="rect">
            <a:avLst/>
          </a:prstGeom>
          <a:noFill/>
        </p:spPr>
        <p:txBody>
          <a:bodyPr wrap="square">
            <a:spAutoFit/>
          </a:bodyPr>
          <a:lstStyle/>
          <a:p>
            <a:pPr algn="ctr">
              <a:defRPr sz="1200" b="0" i="0">
                <a:solidFill>
                  <a:srgbClr val="CCD5E0"/>
                </a:solidFill>
                <a:latin typeface="Calibri"/>
              </a:defRPr>
            </a:pPr>
            <a:r>
              <a:t>Cải thiện</a:t>
            </a:r>
            <a:br/>
            <a:r>
              <a:t>liên tục</a:t>
            </a:r>
          </a:p>
        </p:txBody>
      </p:sp>
      <p:sp>
        <p:nvSpPr>
          <p:cNvPr id="28" name="TextBox 27"/>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8 / 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AI — Người bạn đồng hành đọc sách</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265176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pu.png"/>
          <p:cNvPicPr>
            <a:picLocks noChangeAspect="1"/>
          </p:cNvPicPr>
          <p:nvPr/>
        </p:nvPicPr>
        <p:blipFill>
          <a:blip r:embed="rId2"/>
          <a:stretch>
            <a:fillRect/>
          </a:stretch>
        </p:blipFill>
        <p:spPr>
          <a:xfrm>
            <a:off x="1828800" y="1783080"/>
            <a:ext cx="457200" cy="457200"/>
          </a:xfrm>
          <a:prstGeom prst="rect">
            <a:avLst/>
          </a:prstGeom>
        </p:spPr>
      </p:pic>
      <p:sp>
        <p:nvSpPr>
          <p:cNvPr id="7" name="TextBox 6"/>
          <p:cNvSpPr txBox="1"/>
          <p:nvPr/>
        </p:nvSpPr>
        <p:spPr>
          <a:xfrm>
            <a:off x="822960" y="2286000"/>
            <a:ext cx="2468880" cy="548640"/>
          </a:xfrm>
          <a:prstGeom prst="rect">
            <a:avLst/>
          </a:prstGeom>
          <a:noFill/>
        </p:spPr>
        <p:txBody>
          <a:bodyPr wrap="square">
            <a:spAutoFit/>
          </a:bodyPr>
          <a:lstStyle/>
          <a:p>
            <a:pPr algn="ctr">
              <a:defRPr sz="1700" b="1" i="0">
                <a:solidFill>
                  <a:srgbClr val="1A3C6E"/>
                </a:solidFill>
                <a:latin typeface="Calibri"/>
              </a:defRPr>
            </a:pPr>
            <a:r>
              <a:t>Thấu hiểu</a:t>
            </a:r>
            <a:br/>
            <a:r>
              <a:t>người đọc</a:t>
            </a:r>
          </a:p>
        </p:txBody>
      </p:sp>
      <p:sp>
        <p:nvSpPr>
          <p:cNvPr id="8" name="Rectangle 7"/>
          <p:cNvSpPr/>
          <p:nvPr/>
        </p:nvSpPr>
        <p:spPr>
          <a:xfrm>
            <a:off x="1394460" y="283464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71800"/>
            <a:ext cx="2468880" cy="3154680"/>
          </a:xfrm>
          <a:prstGeom prst="rect">
            <a:avLst/>
          </a:prstGeom>
          <a:noFill/>
        </p:spPr>
        <p:txBody>
          <a:bodyPr wrap="square">
            <a:spAutoFit/>
          </a:bodyPr>
          <a:lstStyle/>
          <a:p>
            <a:pPr algn="ctr">
              <a:defRPr sz="1300" b="0" i="0">
                <a:solidFill>
                  <a:srgbClr val="6B7280"/>
                </a:solidFill>
                <a:latin typeface="Calibri"/>
              </a:defRPr>
            </a:pPr>
            <a:r>
              <a:t>Xây dựng "chân dung đọc" qua</a:t>
            </a:r>
            <a:br/>
            <a:r>
              <a:t>bài khảo sát về độ tuổi, sở thích</a:t>
            </a:r>
            <a:br/>
            <a:r>
              <a:t>và tâm trạng</a:t>
            </a:r>
          </a:p>
        </p:txBody>
      </p:sp>
      <p:sp>
        <p:nvSpPr>
          <p:cNvPr id="10" name="Rounded Rectangle 9"/>
          <p:cNvSpPr/>
          <p:nvPr/>
        </p:nvSpPr>
        <p:spPr>
          <a:xfrm>
            <a:off x="3657600" y="1645920"/>
            <a:ext cx="265176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ook.png"/>
          <p:cNvPicPr>
            <a:picLocks noChangeAspect="1"/>
          </p:cNvPicPr>
          <p:nvPr/>
        </p:nvPicPr>
        <p:blipFill>
          <a:blip r:embed="rId3"/>
          <a:stretch>
            <a:fillRect/>
          </a:stretch>
        </p:blipFill>
        <p:spPr>
          <a:xfrm>
            <a:off x="4754880" y="1783080"/>
            <a:ext cx="457200" cy="457200"/>
          </a:xfrm>
          <a:prstGeom prst="rect">
            <a:avLst/>
          </a:prstGeom>
        </p:spPr>
      </p:pic>
      <p:sp>
        <p:nvSpPr>
          <p:cNvPr id="12" name="TextBox 11"/>
          <p:cNvSpPr txBox="1"/>
          <p:nvPr/>
        </p:nvSpPr>
        <p:spPr>
          <a:xfrm>
            <a:off x="3749040" y="2286000"/>
            <a:ext cx="2468880" cy="548640"/>
          </a:xfrm>
          <a:prstGeom prst="rect">
            <a:avLst/>
          </a:prstGeom>
          <a:noFill/>
        </p:spPr>
        <p:txBody>
          <a:bodyPr wrap="square">
            <a:spAutoFit/>
          </a:bodyPr>
          <a:lstStyle/>
          <a:p>
            <a:pPr algn="ctr">
              <a:defRPr sz="1700" b="1" i="0">
                <a:solidFill>
                  <a:srgbClr val="1A3C6E"/>
                </a:solidFill>
                <a:latin typeface="Calibri"/>
              </a:defRPr>
            </a:pPr>
            <a:r>
              <a:t>Gợi ý sách</a:t>
            </a:r>
            <a:br/>
            <a:r>
              <a:t>thông minh</a:t>
            </a:r>
          </a:p>
        </p:txBody>
      </p:sp>
      <p:sp>
        <p:nvSpPr>
          <p:cNvPr id="13" name="Rectangle 12"/>
          <p:cNvSpPr/>
          <p:nvPr/>
        </p:nvSpPr>
        <p:spPr>
          <a:xfrm>
            <a:off x="4320540" y="283464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0" y="2971800"/>
            <a:ext cx="2468880" cy="3154680"/>
          </a:xfrm>
          <a:prstGeom prst="rect">
            <a:avLst/>
          </a:prstGeom>
          <a:noFill/>
        </p:spPr>
        <p:txBody>
          <a:bodyPr wrap="square">
            <a:spAutoFit/>
          </a:bodyPr>
          <a:lstStyle/>
          <a:p>
            <a:pPr algn="ctr">
              <a:defRPr sz="1300" b="0" i="0">
                <a:solidFill>
                  <a:srgbClr val="6B7280"/>
                </a:solidFill>
                <a:latin typeface="Calibri"/>
              </a:defRPr>
            </a:pPr>
            <a:r>
              <a:t>Đề xuất sách phù hợp kèm tỷ lệ</a:t>
            </a:r>
            <a:br/>
            <a:r>
              <a:t>match rate và lý giải tại sao</a:t>
            </a:r>
            <a:br/>
            <a:r>
              <a:t>cuốn sách phù hợp</a:t>
            </a:r>
          </a:p>
        </p:txBody>
      </p:sp>
      <p:sp>
        <p:nvSpPr>
          <p:cNvPr id="15" name="Rounded Rectangle 14"/>
          <p:cNvSpPr/>
          <p:nvPr/>
        </p:nvSpPr>
        <p:spPr>
          <a:xfrm>
            <a:off x="6583680" y="1645920"/>
            <a:ext cx="265176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loud.png"/>
          <p:cNvPicPr>
            <a:picLocks noChangeAspect="1"/>
          </p:cNvPicPr>
          <p:nvPr/>
        </p:nvPicPr>
        <p:blipFill>
          <a:blip r:embed="rId4"/>
          <a:stretch>
            <a:fillRect/>
          </a:stretch>
        </p:blipFill>
        <p:spPr>
          <a:xfrm>
            <a:off x="7680960" y="1783080"/>
            <a:ext cx="457200" cy="457200"/>
          </a:xfrm>
          <a:prstGeom prst="rect">
            <a:avLst/>
          </a:prstGeom>
        </p:spPr>
      </p:pic>
      <p:sp>
        <p:nvSpPr>
          <p:cNvPr id="17" name="TextBox 16"/>
          <p:cNvSpPr txBox="1"/>
          <p:nvPr/>
        </p:nvSpPr>
        <p:spPr>
          <a:xfrm>
            <a:off x="6675120" y="2286000"/>
            <a:ext cx="2468880" cy="548640"/>
          </a:xfrm>
          <a:prstGeom prst="rect">
            <a:avLst/>
          </a:prstGeom>
          <a:noFill/>
        </p:spPr>
        <p:txBody>
          <a:bodyPr wrap="square">
            <a:spAutoFit/>
          </a:bodyPr>
          <a:lstStyle/>
          <a:p>
            <a:pPr algn="ctr">
              <a:defRPr sz="1700" b="1" i="0">
                <a:solidFill>
                  <a:srgbClr val="1A3C6E"/>
                </a:solidFill>
                <a:latin typeface="Calibri"/>
              </a:defRPr>
            </a:pPr>
            <a:r>
              <a:t>Thích ứng</a:t>
            </a:r>
            <a:br/>
            <a:r>
              <a:t>theo mùa</a:t>
            </a:r>
          </a:p>
        </p:txBody>
      </p:sp>
      <p:sp>
        <p:nvSpPr>
          <p:cNvPr id="18" name="Rectangle 17"/>
          <p:cNvSpPr/>
          <p:nvPr/>
        </p:nvSpPr>
        <p:spPr>
          <a:xfrm>
            <a:off x="7246620" y="283464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2971800"/>
            <a:ext cx="2468880" cy="3154680"/>
          </a:xfrm>
          <a:prstGeom prst="rect">
            <a:avLst/>
          </a:prstGeom>
          <a:noFill/>
        </p:spPr>
        <p:txBody>
          <a:bodyPr wrap="square">
            <a:spAutoFit/>
          </a:bodyPr>
          <a:lstStyle/>
          <a:p>
            <a:pPr algn="ctr">
              <a:defRPr sz="1300" b="0" i="0">
                <a:solidFill>
                  <a:srgbClr val="6B7280"/>
                </a:solidFill>
                <a:latin typeface="Calibri"/>
              </a:defRPr>
            </a:pPr>
            <a:r>
              <a:t>Điều chỉnh gợi ý theo mùa, sự</a:t>
            </a:r>
            <a:br/>
            <a:r>
              <a:t>kiện văn hóa (30/4, Tết,</a:t>
            </a:r>
            <a:br/>
            <a:r>
              <a:t>Quốc tế Phụ nữ...)</a:t>
            </a:r>
          </a:p>
        </p:txBody>
      </p:sp>
      <p:sp>
        <p:nvSpPr>
          <p:cNvPr id="20" name="Rounded Rectangle 19"/>
          <p:cNvSpPr/>
          <p:nvPr/>
        </p:nvSpPr>
        <p:spPr>
          <a:xfrm>
            <a:off x="9509760" y="1645920"/>
            <a:ext cx="2651760" cy="457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thumbs.png"/>
          <p:cNvPicPr>
            <a:picLocks noChangeAspect="1"/>
          </p:cNvPicPr>
          <p:nvPr/>
        </p:nvPicPr>
        <p:blipFill>
          <a:blip r:embed="rId5"/>
          <a:stretch>
            <a:fillRect/>
          </a:stretch>
        </p:blipFill>
        <p:spPr>
          <a:xfrm>
            <a:off x="10607040" y="1783080"/>
            <a:ext cx="457200" cy="457200"/>
          </a:xfrm>
          <a:prstGeom prst="rect">
            <a:avLst/>
          </a:prstGeom>
        </p:spPr>
      </p:pic>
      <p:sp>
        <p:nvSpPr>
          <p:cNvPr id="22" name="TextBox 21"/>
          <p:cNvSpPr txBox="1"/>
          <p:nvPr/>
        </p:nvSpPr>
        <p:spPr>
          <a:xfrm>
            <a:off x="9601200" y="2286000"/>
            <a:ext cx="2468880" cy="548640"/>
          </a:xfrm>
          <a:prstGeom prst="rect">
            <a:avLst/>
          </a:prstGeom>
          <a:noFill/>
        </p:spPr>
        <p:txBody>
          <a:bodyPr wrap="square">
            <a:spAutoFit/>
          </a:bodyPr>
          <a:lstStyle/>
          <a:p>
            <a:pPr algn="ctr">
              <a:defRPr sz="1700" b="1" i="0">
                <a:solidFill>
                  <a:srgbClr val="1A3C6E"/>
                </a:solidFill>
                <a:latin typeface="Calibri"/>
              </a:defRPr>
            </a:pPr>
            <a:r>
              <a:t>Cải thiện</a:t>
            </a:r>
            <a:br/>
            <a:r>
              <a:t>liên tục</a:t>
            </a:r>
          </a:p>
        </p:txBody>
      </p:sp>
      <p:sp>
        <p:nvSpPr>
          <p:cNvPr id="23" name="Rectangle 22"/>
          <p:cNvSpPr/>
          <p:nvPr/>
        </p:nvSpPr>
        <p:spPr>
          <a:xfrm>
            <a:off x="10172700" y="283464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0" y="2971800"/>
            <a:ext cx="2468880" cy="3154680"/>
          </a:xfrm>
          <a:prstGeom prst="rect">
            <a:avLst/>
          </a:prstGeom>
          <a:noFill/>
        </p:spPr>
        <p:txBody>
          <a:bodyPr wrap="square">
            <a:spAutoFit/>
          </a:bodyPr>
          <a:lstStyle/>
          <a:p>
            <a:pPr algn="ctr">
              <a:defRPr sz="1300" b="0" i="0">
                <a:solidFill>
                  <a:srgbClr val="6B7280"/>
                </a:solidFill>
                <a:latin typeface="Calibri"/>
              </a:defRPr>
            </a:pPr>
            <a:r>
              <a:t>AI hiểu rõ hơn về gu đọc khi</a:t>
            </a:r>
            <a:br/>
            <a:r>
              <a:t>người dùng đọc nhiều hơn,</a:t>
            </a:r>
            <a:br/>
            <a:r>
              <a:t>gợi ý ngày càng chính xác</a:t>
            </a:r>
          </a:p>
        </p:txBody>
      </p:sp>
      <p:sp>
        <p:nvSpPr>
          <p:cNvPr id="25" name="TextBox 24"/>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Cơ chế gợi ý sách thông minh</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011680" y="1737360"/>
            <a:ext cx="1097280" cy="109728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920240"/>
            <a:ext cx="1097280" cy="731520"/>
          </a:xfrm>
          <a:prstGeom prst="rect">
            <a:avLst/>
          </a:prstGeom>
          <a:noFill/>
        </p:spPr>
        <p:txBody>
          <a:bodyPr wrap="square">
            <a:spAutoFit/>
          </a:bodyPr>
          <a:lstStyle/>
          <a:p>
            <a:pPr algn="ctr">
              <a:defRPr sz="3600" b="1" i="0">
                <a:solidFill>
                  <a:srgbClr val="FFFFFF"/>
                </a:solidFill>
                <a:latin typeface="Calibri"/>
              </a:defRPr>
            </a:pPr>
            <a:r>
              <a:t>1</a:t>
            </a:r>
          </a:p>
        </p:txBody>
      </p:sp>
      <p:sp>
        <p:nvSpPr>
          <p:cNvPr id="7" name="TextBox 6"/>
          <p:cNvSpPr txBox="1"/>
          <p:nvPr/>
        </p:nvSpPr>
        <p:spPr>
          <a:xfrm>
            <a:off x="3291840" y="1965960"/>
            <a:ext cx="1097280" cy="548640"/>
          </a:xfrm>
          <a:prstGeom prst="rect">
            <a:avLst/>
          </a:prstGeom>
          <a:noFill/>
        </p:spPr>
        <p:txBody>
          <a:bodyPr wrap="square">
            <a:spAutoFit/>
          </a:bodyPr>
          <a:lstStyle/>
          <a:p>
            <a:pPr algn="ctr">
              <a:defRPr sz="3600" b="1" i="0">
                <a:solidFill>
                  <a:srgbClr val="6B7280"/>
                </a:solidFill>
                <a:latin typeface="Calibri"/>
              </a:defRPr>
            </a:pPr>
            <a:r>
              <a:t>→</a:t>
            </a:r>
          </a:p>
        </p:txBody>
      </p:sp>
      <p:sp>
        <p:nvSpPr>
          <p:cNvPr id="8" name="TextBox 7"/>
          <p:cNvSpPr txBox="1"/>
          <p:nvPr/>
        </p:nvSpPr>
        <p:spPr>
          <a:xfrm>
            <a:off x="914400" y="3108960"/>
            <a:ext cx="3291840" cy="457200"/>
          </a:xfrm>
          <a:prstGeom prst="rect">
            <a:avLst/>
          </a:prstGeom>
          <a:noFill/>
        </p:spPr>
        <p:txBody>
          <a:bodyPr wrap="square">
            <a:spAutoFit/>
          </a:bodyPr>
          <a:lstStyle/>
          <a:p>
            <a:pPr algn="ctr">
              <a:defRPr sz="2000" b="1" i="0">
                <a:solidFill>
                  <a:srgbClr val="1A3C6E"/>
                </a:solidFill>
                <a:latin typeface="Calibri"/>
              </a:defRPr>
            </a:pPr>
            <a:r>
              <a:t>Khảo sát</a:t>
            </a:r>
          </a:p>
        </p:txBody>
      </p:sp>
      <p:sp>
        <p:nvSpPr>
          <p:cNvPr id="9" name="TextBox 8"/>
          <p:cNvSpPr txBox="1"/>
          <p:nvPr/>
        </p:nvSpPr>
        <p:spPr>
          <a:xfrm>
            <a:off x="1097280" y="3566160"/>
            <a:ext cx="2926080" cy="731520"/>
          </a:xfrm>
          <a:prstGeom prst="rect">
            <a:avLst/>
          </a:prstGeom>
          <a:noFill/>
        </p:spPr>
        <p:txBody>
          <a:bodyPr wrap="square">
            <a:spAutoFit/>
          </a:bodyPr>
          <a:lstStyle/>
          <a:p>
            <a:pPr algn="ctr">
              <a:defRPr sz="1400" b="0" i="0">
                <a:solidFill>
                  <a:srgbClr val="6B7280"/>
                </a:solidFill>
                <a:latin typeface="Calibri"/>
              </a:defRPr>
            </a:pPr>
            <a:r>
              <a:t>Độ tuổi, sở thích,</a:t>
            </a:r>
            <a:br/>
            <a:r>
              <a:t>tâm trạng</a:t>
            </a:r>
          </a:p>
        </p:txBody>
      </p:sp>
      <p:sp>
        <p:nvSpPr>
          <p:cNvPr id="10" name="Oval 9"/>
          <p:cNvSpPr/>
          <p:nvPr/>
        </p:nvSpPr>
        <p:spPr>
          <a:xfrm>
            <a:off x="5760719" y="1737360"/>
            <a:ext cx="1097280" cy="109728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19" y="1920240"/>
            <a:ext cx="1097280" cy="731520"/>
          </a:xfrm>
          <a:prstGeom prst="rect">
            <a:avLst/>
          </a:prstGeom>
          <a:noFill/>
        </p:spPr>
        <p:txBody>
          <a:bodyPr wrap="square">
            <a:spAutoFit/>
          </a:bodyPr>
          <a:lstStyle/>
          <a:p>
            <a:pPr algn="ctr">
              <a:defRPr sz="3600" b="1" i="0">
                <a:solidFill>
                  <a:srgbClr val="FFFFFF"/>
                </a:solidFill>
                <a:latin typeface="Calibri"/>
              </a:defRPr>
            </a:pPr>
            <a:r>
              <a:t>2</a:t>
            </a:r>
          </a:p>
        </p:txBody>
      </p:sp>
      <p:sp>
        <p:nvSpPr>
          <p:cNvPr id="12" name="TextBox 11"/>
          <p:cNvSpPr txBox="1"/>
          <p:nvPr/>
        </p:nvSpPr>
        <p:spPr>
          <a:xfrm>
            <a:off x="7040879" y="1965960"/>
            <a:ext cx="1097280" cy="548640"/>
          </a:xfrm>
          <a:prstGeom prst="rect">
            <a:avLst/>
          </a:prstGeom>
          <a:noFill/>
        </p:spPr>
        <p:txBody>
          <a:bodyPr wrap="square">
            <a:spAutoFit/>
          </a:bodyPr>
          <a:lstStyle/>
          <a:p>
            <a:pPr algn="ctr">
              <a:defRPr sz="3600" b="1" i="0">
                <a:solidFill>
                  <a:srgbClr val="6B7280"/>
                </a:solidFill>
                <a:latin typeface="Calibri"/>
              </a:defRPr>
            </a:pPr>
            <a:r>
              <a:t>→</a:t>
            </a:r>
          </a:p>
        </p:txBody>
      </p:sp>
      <p:sp>
        <p:nvSpPr>
          <p:cNvPr id="13" name="TextBox 12"/>
          <p:cNvSpPr txBox="1"/>
          <p:nvPr/>
        </p:nvSpPr>
        <p:spPr>
          <a:xfrm>
            <a:off x="4663439" y="3108960"/>
            <a:ext cx="3291840" cy="457200"/>
          </a:xfrm>
          <a:prstGeom prst="rect">
            <a:avLst/>
          </a:prstGeom>
          <a:noFill/>
        </p:spPr>
        <p:txBody>
          <a:bodyPr wrap="square">
            <a:spAutoFit/>
          </a:bodyPr>
          <a:lstStyle/>
          <a:p>
            <a:pPr algn="ctr">
              <a:defRPr sz="2000" b="1" i="0">
                <a:solidFill>
                  <a:srgbClr val="2D5F8A"/>
                </a:solidFill>
                <a:latin typeface="Calibri"/>
              </a:defRPr>
            </a:pPr>
            <a:r>
              <a:t>Phân tích</a:t>
            </a:r>
          </a:p>
        </p:txBody>
      </p:sp>
      <p:sp>
        <p:nvSpPr>
          <p:cNvPr id="14" name="TextBox 13"/>
          <p:cNvSpPr txBox="1"/>
          <p:nvPr/>
        </p:nvSpPr>
        <p:spPr>
          <a:xfrm>
            <a:off x="4846319" y="3566160"/>
            <a:ext cx="2926080" cy="731520"/>
          </a:xfrm>
          <a:prstGeom prst="rect">
            <a:avLst/>
          </a:prstGeom>
          <a:noFill/>
        </p:spPr>
        <p:txBody>
          <a:bodyPr wrap="square">
            <a:spAutoFit/>
          </a:bodyPr>
          <a:lstStyle/>
          <a:p>
            <a:pPr algn="ctr">
              <a:defRPr sz="1400" b="0" i="0">
                <a:solidFill>
                  <a:srgbClr val="6B7280"/>
                </a:solidFill>
                <a:latin typeface="Calibri"/>
              </a:defRPr>
            </a:pPr>
            <a:r>
              <a:t>Kết hợp dữ liệu</a:t>
            </a:r>
            <a:br/>
            <a:r>
              <a:t>lịch sử đọc</a:t>
            </a:r>
          </a:p>
        </p:txBody>
      </p:sp>
      <p:sp>
        <p:nvSpPr>
          <p:cNvPr id="15" name="Oval 14"/>
          <p:cNvSpPr/>
          <p:nvPr/>
        </p:nvSpPr>
        <p:spPr>
          <a:xfrm>
            <a:off x="9509758" y="1737360"/>
            <a:ext cx="1097280" cy="1097280"/>
          </a:xfrm>
          <a:prstGeom prst="ellipse">
            <a:avLst/>
          </a:prstGeom>
          <a:solidFill>
            <a:srgbClr val="4A90D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09758" y="1920240"/>
            <a:ext cx="1097280" cy="731520"/>
          </a:xfrm>
          <a:prstGeom prst="rect">
            <a:avLst/>
          </a:prstGeom>
          <a:noFill/>
        </p:spPr>
        <p:txBody>
          <a:bodyPr wrap="square">
            <a:spAutoFit/>
          </a:bodyPr>
          <a:lstStyle/>
          <a:p>
            <a:pPr algn="ctr">
              <a:defRPr sz="3600" b="1" i="0">
                <a:solidFill>
                  <a:srgbClr val="FFFFFF"/>
                </a:solidFill>
                <a:latin typeface="Calibri"/>
              </a:defRPr>
            </a:pPr>
            <a:r>
              <a:t>3</a:t>
            </a:r>
          </a:p>
        </p:txBody>
      </p:sp>
      <p:sp>
        <p:nvSpPr>
          <p:cNvPr id="17" name="TextBox 16"/>
          <p:cNvSpPr txBox="1"/>
          <p:nvPr/>
        </p:nvSpPr>
        <p:spPr>
          <a:xfrm>
            <a:off x="8412478" y="3108960"/>
            <a:ext cx="3291840" cy="457200"/>
          </a:xfrm>
          <a:prstGeom prst="rect">
            <a:avLst/>
          </a:prstGeom>
          <a:noFill/>
        </p:spPr>
        <p:txBody>
          <a:bodyPr wrap="square">
            <a:spAutoFit/>
          </a:bodyPr>
          <a:lstStyle/>
          <a:p>
            <a:pPr algn="ctr">
              <a:defRPr sz="2000" b="1" i="0">
                <a:solidFill>
                  <a:srgbClr val="4A90D9"/>
                </a:solidFill>
                <a:latin typeface="Calibri"/>
              </a:defRPr>
            </a:pPr>
            <a:r>
              <a:t>Gợi ý</a:t>
            </a:r>
          </a:p>
        </p:txBody>
      </p:sp>
      <p:sp>
        <p:nvSpPr>
          <p:cNvPr id="18" name="TextBox 17"/>
          <p:cNvSpPr txBox="1"/>
          <p:nvPr/>
        </p:nvSpPr>
        <p:spPr>
          <a:xfrm>
            <a:off x="8595358" y="3566160"/>
            <a:ext cx="2926080" cy="731520"/>
          </a:xfrm>
          <a:prstGeom prst="rect">
            <a:avLst/>
          </a:prstGeom>
          <a:noFill/>
        </p:spPr>
        <p:txBody>
          <a:bodyPr wrap="square">
            <a:spAutoFit/>
          </a:bodyPr>
          <a:lstStyle/>
          <a:p>
            <a:pPr algn="ctr">
              <a:defRPr sz="1400" b="0" i="0">
                <a:solidFill>
                  <a:srgbClr val="6B7280"/>
                </a:solidFill>
                <a:latin typeface="Calibri"/>
              </a:defRPr>
            </a:pPr>
            <a:r>
              <a:t>3 sách kèm tỷ lệ</a:t>
            </a:r>
            <a:br/>
            <a:r>
              <a:t>phù hợp 75-99%</a:t>
            </a:r>
          </a:p>
        </p:txBody>
      </p:sp>
      <p:sp>
        <p:nvSpPr>
          <p:cNvPr id="19" name="Rounded Rectangle 18"/>
          <p:cNvSpPr/>
          <p:nvPr/>
        </p:nvSpPr>
        <p:spPr>
          <a:xfrm>
            <a:off x="914400" y="4754880"/>
            <a:ext cx="10332720" cy="13716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4846320"/>
            <a:ext cx="2743200" cy="365760"/>
          </a:xfrm>
          <a:prstGeom prst="rect">
            <a:avLst/>
          </a:prstGeom>
          <a:noFill/>
        </p:spPr>
        <p:txBody>
          <a:bodyPr wrap="square">
            <a:spAutoFit/>
          </a:bodyPr>
          <a:lstStyle/>
          <a:p>
            <a:pPr algn="l">
              <a:defRPr sz="1400" b="1" i="0">
                <a:solidFill>
                  <a:srgbClr val="1A3C6E"/>
                </a:solidFill>
                <a:latin typeface="Calibri"/>
              </a:defRPr>
            </a:pPr>
            <a:r>
              <a:t>Ví dụ gợi ý của AI:</a:t>
            </a:r>
          </a:p>
        </p:txBody>
      </p:sp>
      <p:sp>
        <p:nvSpPr>
          <p:cNvPr id="21" name="TextBox 20"/>
          <p:cNvSpPr txBox="1"/>
          <p:nvPr/>
        </p:nvSpPr>
        <p:spPr>
          <a:xfrm>
            <a:off x="1188720" y="5212080"/>
            <a:ext cx="9784080" cy="822960"/>
          </a:xfrm>
          <a:prstGeom prst="rect">
            <a:avLst/>
          </a:prstGeom>
          <a:noFill/>
        </p:spPr>
        <p:txBody>
          <a:bodyPr wrap="square">
            <a:spAutoFit/>
          </a:bodyPr>
          <a:lstStyle/>
          <a:p>
            <a:pPr algn="l">
              <a:defRPr sz="1300" b="0" i="1">
                <a:solidFill>
                  <a:srgbClr val="1E1E1E"/>
                </a:solidFill>
                <a:latin typeface="Calibri"/>
              </a:defRPr>
            </a:pPr>
            <a:r>
              <a:t>"Chào bạn! Dựa trên sở thích văn học và tâm trạng muốn tìm kiếm sự đồng cảm, mình nghĩ bạn sẽ rất thích cuốn "Tôi thấy hoa vàng trên cỏ xanh" của nhà văn Nguyễn Nhật Ánh (92%). Tuổi thơ trong trẻo sẽ chạm đến trái tim bạn đấy!"</a:t>
            </a:r>
          </a:p>
        </p:txBody>
      </p:sp>
      <p:sp>
        <p:nvSpPr>
          <p:cNvPr id="22" name="TextBox 21"/>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10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731520"/>
          </a:xfrm>
          <a:prstGeom prst="rect">
            <a:avLst/>
          </a:prstGeom>
          <a:noFill/>
        </p:spPr>
        <p:txBody>
          <a:bodyPr wrap="square">
            <a:spAutoFit/>
          </a:bodyPr>
          <a:lstStyle/>
          <a:p>
            <a:pPr algn="l">
              <a:defRPr sz="7200" b="1" i="0">
                <a:solidFill>
                  <a:srgbClr val="FFFFFF"/>
                </a:solidFill>
                <a:latin typeface="Calibri"/>
              </a:defRPr>
            </a:pPr>
            <a:r>
              <a:t>03</a:t>
            </a:r>
          </a:p>
        </p:txBody>
      </p:sp>
      <p:sp>
        <p:nvSpPr>
          <p:cNvPr id="4" name="Rectangle 3"/>
          <p:cNvSpPr/>
          <p:nvPr/>
        </p:nvSpPr>
        <p:spPr>
          <a:xfrm>
            <a:off x="914400" y="2926080"/>
            <a:ext cx="22860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291840"/>
            <a:ext cx="10058400" cy="1097280"/>
          </a:xfrm>
          <a:prstGeom prst="rect">
            <a:avLst/>
          </a:prstGeom>
          <a:noFill/>
        </p:spPr>
        <p:txBody>
          <a:bodyPr wrap="square">
            <a:spAutoFit/>
          </a:bodyPr>
          <a:lstStyle/>
          <a:p>
            <a:pPr algn="l">
              <a:defRPr sz="3600" b="1" i="0">
                <a:solidFill>
                  <a:srgbClr val="FFFFFF"/>
                </a:solidFill>
                <a:latin typeface="Calibri"/>
              </a:defRPr>
            </a:pPr>
            <a:r>
              <a:t>Các tính năng hỗ trợ đọc sách</a:t>
            </a:r>
          </a:p>
        </p:txBody>
      </p:sp>
      <p:sp>
        <p:nvSpPr>
          <p:cNvPr id="6" name="TextBox 5"/>
          <p:cNvSpPr txBox="1"/>
          <p:nvPr/>
        </p:nvSpPr>
        <p:spPr>
          <a:xfrm>
            <a:off x="914400" y="4389120"/>
            <a:ext cx="10058400" cy="548640"/>
          </a:xfrm>
          <a:prstGeom prst="rect">
            <a:avLst/>
          </a:prstGeom>
          <a:noFill/>
        </p:spPr>
        <p:txBody>
          <a:bodyPr wrap="square">
            <a:spAutoFit/>
          </a:bodyPr>
          <a:lstStyle/>
          <a:p>
            <a:pPr algn="l">
              <a:defRPr sz="1800" b="0" i="0">
                <a:solidFill>
                  <a:srgbClr val="CCD5E0"/>
                </a:solidFill>
                <a:latin typeface="Calibri"/>
              </a:defRPr>
            </a:pPr>
            <a:r>
              <a:t>5 nhóm tính năng tạo nên hệ sinh thái khuyến đọc toàn diện</a:t>
            </a:r>
          </a:p>
        </p:txBody>
      </p:sp>
      <p:sp>
        <p:nvSpPr>
          <p:cNvPr id="7" name="TextBox 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11 / 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Khảo sát sở thích &amp; Gợi ý cá nhân hóa</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4572000" cy="457200"/>
          </a:xfrm>
          <a:prstGeom prst="rect">
            <a:avLst/>
          </a:prstGeom>
          <a:noFill/>
        </p:spPr>
        <p:txBody>
          <a:bodyPr wrap="square">
            <a:spAutoFit/>
          </a:bodyPr>
          <a:lstStyle/>
          <a:p>
            <a:pPr algn="l">
              <a:defRPr sz="1800" b="1" i="0">
                <a:solidFill>
                  <a:srgbClr val="1A3C6E"/>
                </a:solidFill>
                <a:latin typeface="Calibri"/>
              </a:defRPr>
            </a:pPr>
            <a:r>
              <a:t>Bài khảo sát nhanh 3 câu hỏi:</a:t>
            </a:r>
          </a:p>
        </p:txBody>
      </p:sp>
      <p:sp>
        <p:nvSpPr>
          <p:cNvPr id="6" name="Rounded Rectangle 5"/>
          <p:cNvSpPr/>
          <p:nvPr/>
        </p:nvSpPr>
        <p:spPr>
          <a:xfrm>
            <a:off x="914400" y="2103120"/>
            <a:ext cx="4572000" cy="10972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user.png"/>
          <p:cNvPicPr>
            <a:picLocks noChangeAspect="1"/>
          </p:cNvPicPr>
          <p:nvPr/>
        </p:nvPicPr>
        <p:blipFill>
          <a:blip r:embed="rId2"/>
          <a:stretch>
            <a:fillRect/>
          </a:stretch>
        </p:blipFill>
        <p:spPr>
          <a:xfrm>
            <a:off x="1097280" y="2423160"/>
            <a:ext cx="411480" cy="411480"/>
          </a:xfrm>
          <a:prstGeom prst="rect">
            <a:avLst/>
          </a:prstGeom>
        </p:spPr>
      </p:pic>
      <p:sp>
        <p:nvSpPr>
          <p:cNvPr id="8" name="TextBox 7"/>
          <p:cNvSpPr txBox="1"/>
          <p:nvPr/>
        </p:nvSpPr>
        <p:spPr>
          <a:xfrm>
            <a:off x="1737360" y="2240280"/>
            <a:ext cx="3474720" cy="365760"/>
          </a:xfrm>
          <a:prstGeom prst="rect">
            <a:avLst/>
          </a:prstGeom>
          <a:noFill/>
        </p:spPr>
        <p:txBody>
          <a:bodyPr wrap="square">
            <a:spAutoFit/>
          </a:bodyPr>
          <a:lstStyle/>
          <a:p>
            <a:pPr algn="l">
              <a:defRPr sz="1500" b="1" i="0">
                <a:solidFill>
                  <a:srgbClr val="1E1E1E"/>
                </a:solidFill>
                <a:latin typeface="Calibri"/>
              </a:defRPr>
            </a:pPr>
            <a:r>
              <a:t>Độ tuổi của bạn?</a:t>
            </a:r>
          </a:p>
        </p:txBody>
      </p:sp>
      <p:sp>
        <p:nvSpPr>
          <p:cNvPr id="9" name="TextBox 8"/>
          <p:cNvSpPr txBox="1"/>
          <p:nvPr/>
        </p:nvSpPr>
        <p:spPr>
          <a:xfrm>
            <a:off x="1737360" y="2606040"/>
            <a:ext cx="3474720" cy="457200"/>
          </a:xfrm>
          <a:prstGeom prst="rect">
            <a:avLst/>
          </a:prstGeom>
          <a:noFill/>
        </p:spPr>
        <p:txBody>
          <a:bodyPr wrap="square">
            <a:spAutoFit/>
          </a:bodyPr>
          <a:lstStyle/>
          <a:p>
            <a:pPr algn="l">
              <a:defRPr sz="1200" b="0" i="0">
                <a:solidFill>
                  <a:srgbClr val="6B7280"/>
                </a:solidFill>
                <a:latin typeface="Calibri"/>
              </a:defRPr>
            </a:pPr>
            <a:r>
              <a:t>Giúp AI chọn sách phù hợp lứa tuổi</a:t>
            </a:r>
          </a:p>
        </p:txBody>
      </p:sp>
      <p:sp>
        <p:nvSpPr>
          <p:cNvPr id="10" name="Rounded Rectangle 9"/>
          <p:cNvSpPr/>
          <p:nvPr/>
        </p:nvSpPr>
        <p:spPr>
          <a:xfrm>
            <a:off x="914400" y="3474720"/>
            <a:ext cx="4572000" cy="10972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ook.png"/>
          <p:cNvPicPr>
            <a:picLocks noChangeAspect="1"/>
          </p:cNvPicPr>
          <p:nvPr/>
        </p:nvPicPr>
        <p:blipFill>
          <a:blip r:embed="rId3"/>
          <a:stretch>
            <a:fillRect/>
          </a:stretch>
        </p:blipFill>
        <p:spPr>
          <a:xfrm>
            <a:off x="1097280" y="3794760"/>
            <a:ext cx="411480" cy="411480"/>
          </a:xfrm>
          <a:prstGeom prst="rect">
            <a:avLst/>
          </a:prstGeom>
        </p:spPr>
      </p:pic>
      <p:sp>
        <p:nvSpPr>
          <p:cNvPr id="12" name="TextBox 11"/>
          <p:cNvSpPr txBox="1"/>
          <p:nvPr/>
        </p:nvSpPr>
        <p:spPr>
          <a:xfrm>
            <a:off x="1737360" y="3611880"/>
            <a:ext cx="3474720" cy="365760"/>
          </a:xfrm>
          <a:prstGeom prst="rect">
            <a:avLst/>
          </a:prstGeom>
          <a:noFill/>
        </p:spPr>
        <p:txBody>
          <a:bodyPr wrap="square">
            <a:spAutoFit/>
          </a:bodyPr>
          <a:lstStyle/>
          <a:p>
            <a:pPr algn="l">
              <a:defRPr sz="1500" b="1" i="0">
                <a:solidFill>
                  <a:srgbClr val="1E1E1E"/>
                </a:solidFill>
                <a:latin typeface="Calibri"/>
              </a:defRPr>
            </a:pPr>
            <a:r>
              <a:t>Sở thích đọc sách?</a:t>
            </a:r>
          </a:p>
        </p:txBody>
      </p:sp>
      <p:sp>
        <p:nvSpPr>
          <p:cNvPr id="13" name="TextBox 12"/>
          <p:cNvSpPr txBox="1"/>
          <p:nvPr/>
        </p:nvSpPr>
        <p:spPr>
          <a:xfrm>
            <a:off x="1737360" y="3977640"/>
            <a:ext cx="3474720" cy="457200"/>
          </a:xfrm>
          <a:prstGeom prst="rect">
            <a:avLst/>
          </a:prstGeom>
          <a:noFill/>
        </p:spPr>
        <p:txBody>
          <a:bodyPr wrap="square">
            <a:spAutoFit/>
          </a:bodyPr>
          <a:lstStyle/>
          <a:p>
            <a:pPr algn="l">
              <a:defRPr sz="1200" b="0" i="0">
                <a:solidFill>
                  <a:srgbClr val="6B7280"/>
                </a:solidFill>
                <a:latin typeface="Calibri"/>
              </a:defRPr>
            </a:pPr>
            <a:r>
              <a:t>Văn học, khoa học, kinh tế, phát triển bản thân...</a:t>
            </a:r>
          </a:p>
        </p:txBody>
      </p:sp>
      <p:sp>
        <p:nvSpPr>
          <p:cNvPr id="14" name="Rounded Rectangle 13"/>
          <p:cNvSpPr/>
          <p:nvPr/>
        </p:nvSpPr>
        <p:spPr>
          <a:xfrm>
            <a:off x="914400" y="4846320"/>
            <a:ext cx="4572000" cy="10972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loud.png"/>
          <p:cNvPicPr>
            <a:picLocks noChangeAspect="1"/>
          </p:cNvPicPr>
          <p:nvPr/>
        </p:nvPicPr>
        <p:blipFill>
          <a:blip r:embed="rId4"/>
          <a:stretch>
            <a:fillRect/>
          </a:stretch>
        </p:blipFill>
        <p:spPr>
          <a:xfrm>
            <a:off x="1097280" y="5166360"/>
            <a:ext cx="411480" cy="411480"/>
          </a:xfrm>
          <a:prstGeom prst="rect">
            <a:avLst/>
          </a:prstGeom>
        </p:spPr>
      </p:pic>
      <p:sp>
        <p:nvSpPr>
          <p:cNvPr id="16" name="TextBox 15"/>
          <p:cNvSpPr txBox="1"/>
          <p:nvPr/>
        </p:nvSpPr>
        <p:spPr>
          <a:xfrm>
            <a:off x="1737360" y="4983480"/>
            <a:ext cx="3474720" cy="365760"/>
          </a:xfrm>
          <a:prstGeom prst="rect">
            <a:avLst/>
          </a:prstGeom>
          <a:noFill/>
        </p:spPr>
        <p:txBody>
          <a:bodyPr wrap="square">
            <a:spAutoFit/>
          </a:bodyPr>
          <a:lstStyle/>
          <a:p>
            <a:pPr algn="l">
              <a:defRPr sz="1500" b="1" i="0">
                <a:solidFill>
                  <a:srgbClr val="1E1E1E"/>
                </a:solidFill>
                <a:latin typeface="Calibri"/>
              </a:defRPr>
            </a:pPr>
            <a:r>
              <a:t>Tâm trạng hiện tại?</a:t>
            </a:r>
          </a:p>
        </p:txBody>
      </p:sp>
      <p:sp>
        <p:nvSpPr>
          <p:cNvPr id="17" name="TextBox 16"/>
          <p:cNvSpPr txBox="1"/>
          <p:nvPr/>
        </p:nvSpPr>
        <p:spPr>
          <a:xfrm>
            <a:off x="1737360" y="5349240"/>
            <a:ext cx="3474720" cy="457200"/>
          </a:xfrm>
          <a:prstGeom prst="rect">
            <a:avLst/>
          </a:prstGeom>
          <a:noFill/>
        </p:spPr>
        <p:txBody>
          <a:bodyPr wrap="square">
            <a:spAutoFit/>
          </a:bodyPr>
          <a:lstStyle/>
          <a:p>
            <a:pPr algn="l">
              <a:defRPr sz="1200" b="0" i="0">
                <a:solidFill>
                  <a:srgbClr val="6B7280"/>
                </a:solidFill>
                <a:latin typeface="Calibri"/>
              </a:defRPr>
            </a:pPr>
            <a:r>
              <a:t>Vui, buồn, muốn tìm cảm hứng, thư giãn...</a:t>
            </a:r>
          </a:p>
        </p:txBody>
      </p:sp>
      <p:sp>
        <p:nvSpPr>
          <p:cNvPr id="18" name="Rounded Rectangle 17"/>
          <p:cNvSpPr/>
          <p:nvPr/>
        </p:nvSpPr>
        <p:spPr>
          <a:xfrm>
            <a:off x="6400800" y="1554480"/>
            <a:ext cx="5029200" cy="47548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1828800"/>
            <a:ext cx="4572000" cy="457200"/>
          </a:xfrm>
          <a:prstGeom prst="rect">
            <a:avLst/>
          </a:prstGeom>
          <a:noFill/>
        </p:spPr>
        <p:txBody>
          <a:bodyPr wrap="square">
            <a:spAutoFit/>
          </a:bodyPr>
          <a:lstStyle/>
          <a:p>
            <a:pPr algn="l">
              <a:defRPr sz="2200" b="1" i="0">
                <a:solidFill>
                  <a:srgbClr val="FFFFFF"/>
                </a:solidFill>
                <a:latin typeface="Calibri"/>
              </a:defRPr>
            </a:pPr>
            <a:r>
              <a:t>Kết quả: 3 gợi ý sách</a:t>
            </a:r>
          </a:p>
        </p:txBody>
      </p:sp>
      <p:sp>
        <p:nvSpPr>
          <p:cNvPr id="20" name="Rectangle 19"/>
          <p:cNvSpPr/>
          <p:nvPr/>
        </p:nvSpPr>
        <p:spPr>
          <a:xfrm>
            <a:off x="6675120" y="2377440"/>
            <a:ext cx="137160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book.png"/>
          <p:cNvPicPr>
            <a:picLocks noChangeAspect="1"/>
          </p:cNvPicPr>
          <p:nvPr/>
        </p:nvPicPr>
        <p:blipFill>
          <a:blip r:embed="rId3"/>
          <a:stretch>
            <a:fillRect/>
          </a:stretch>
        </p:blipFill>
        <p:spPr>
          <a:xfrm>
            <a:off x="6858000" y="2651760"/>
            <a:ext cx="320040" cy="320040"/>
          </a:xfrm>
          <a:prstGeom prst="rect">
            <a:avLst/>
          </a:prstGeom>
        </p:spPr>
      </p:pic>
      <p:sp>
        <p:nvSpPr>
          <p:cNvPr id="22" name="TextBox 21"/>
          <p:cNvSpPr txBox="1"/>
          <p:nvPr/>
        </p:nvSpPr>
        <p:spPr>
          <a:xfrm>
            <a:off x="7315200" y="2651760"/>
            <a:ext cx="3657600" cy="365760"/>
          </a:xfrm>
          <a:prstGeom prst="rect">
            <a:avLst/>
          </a:prstGeom>
          <a:noFill/>
        </p:spPr>
        <p:txBody>
          <a:bodyPr wrap="square">
            <a:spAutoFit/>
          </a:bodyPr>
          <a:lstStyle/>
          <a:p>
            <a:pPr algn="l">
              <a:defRPr sz="1400" b="0" i="0">
                <a:solidFill>
                  <a:srgbClr val="CCD5E0"/>
                </a:solidFill>
                <a:latin typeface="Calibri"/>
              </a:defRPr>
            </a:pPr>
            <a:r>
              <a:t>Tên sách + Tác giả</a:t>
            </a:r>
          </a:p>
        </p:txBody>
      </p:sp>
      <p:pic>
        <p:nvPicPr>
          <p:cNvPr id="23" name="Picture 22" descr="pen.png"/>
          <p:cNvPicPr>
            <a:picLocks noChangeAspect="1"/>
          </p:cNvPicPr>
          <p:nvPr/>
        </p:nvPicPr>
        <p:blipFill>
          <a:blip r:embed="rId5"/>
          <a:stretch>
            <a:fillRect/>
          </a:stretch>
        </p:blipFill>
        <p:spPr>
          <a:xfrm>
            <a:off x="6858000" y="3200400"/>
            <a:ext cx="320040" cy="320040"/>
          </a:xfrm>
          <a:prstGeom prst="rect">
            <a:avLst/>
          </a:prstGeom>
        </p:spPr>
      </p:pic>
      <p:sp>
        <p:nvSpPr>
          <p:cNvPr id="24" name="TextBox 23"/>
          <p:cNvSpPr txBox="1"/>
          <p:nvPr/>
        </p:nvSpPr>
        <p:spPr>
          <a:xfrm>
            <a:off x="7315200" y="3200400"/>
            <a:ext cx="3657600" cy="365760"/>
          </a:xfrm>
          <a:prstGeom prst="rect">
            <a:avLst/>
          </a:prstGeom>
          <a:noFill/>
        </p:spPr>
        <p:txBody>
          <a:bodyPr wrap="square">
            <a:spAutoFit/>
          </a:bodyPr>
          <a:lstStyle/>
          <a:p>
            <a:pPr algn="l">
              <a:defRPr sz="1400" b="0" i="0">
                <a:solidFill>
                  <a:srgbClr val="CCD5E0"/>
                </a:solidFill>
                <a:latin typeface="Calibri"/>
              </a:defRPr>
            </a:pPr>
            <a:r>
              <a:t>Mô tả ngắn 2-3 câu</a:t>
            </a:r>
          </a:p>
        </p:txBody>
      </p:sp>
      <p:pic>
        <p:nvPicPr>
          <p:cNvPr id="25" name="Picture 24" descr="chart.png"/>
          <p:cNvPicPr>
            <a:picLocks noChangeAspect="1"/>
          </p:cNvPicPr>
          <p:nvPr/>
        </p:nvPicPr>
        <p:blipFill>
          <a:blip r:embed="rId6"/>
          <a:stretch>
            <a:fillRect/>
          </a:stretch>
        </p:blipFill>
        <p:spPr>
          <a:xfrm>
            <a:off x="6858000" y="3749040"/>
            <a:ext cx="320040" cy="320040"/>
          </a:xfrm>
          <a:prstGeom prst="rect">
            <a:avLst/>
          </a:prstGeom>
        </p:spPr>
      </p:pic>
      <p:sp>
        <p:nvSpPr>
          <p:cNvPr id="26" name="TextBox 25"/>
          <p:cNvSpPr txBox="1"/>
          <p:nvPr/>
        </p:nvSpPr>
        <p:spPr>
          <a:xfrm>
            <a:off x="7315200" y="3749040"/>
            <a:ext cx="3657600" cy="365760"/>
          </a:xfrm>
          <a:prstGeom prst="rect">
            <a:avLst/>
          </a:prstGeom>
          <a:noFill/>
        </p:spPr>
        <p:txBody>
          <a:bodyPr wrap="square">
            <a:spAutoFit/>
          </a:bodyPr>
          <a:lstStyle/>
          <a:p>
            <a:pPr algn="l">
              <a:defRPr sz="1400" b="0" i="0">
                <a:solidFill>
                  <a:srgbClr val="CCD5E0"/>
                </a:solidFill>
                <a:latin typeface="Calibri"/>
              </a:defRPr>
            </a:pPr>
            <a:r>
              <a:t>Tỷ lệ phù hợp 75-99%</a:t>
            </a:r>
          </a:p>
        </p:txBody>
      </p:sp>
      <p:pic>
        <p:nvPicPr>
          <p:cNvPr id="27" name="Picture 26" descr="lightbulb.png"/>
          <p:cNvPicPr>
            <a:picLocks noChangeAspect="1"/>
          </p:cNvPicPr>
          <p:nvPr/>
        </p:nvPicPr>
        <p:blipFill>
          <a:blip r:embed="rId7"/>
          <a:stretch>
            <a:fillRect/>
          </a:stretch>
        </p:blipFill>
        <p:spPr>
          <a:xfrm>
            <a:off x="6858000" y="4297680"/>
            <a:ext cx="320040" cy="320040"/>
          </a:xfrm>
          <a:prstGeom prst="rect">
            <a:avLst/>
          </a:prstGeom>
        </p:spPr>
      </p:pic>
      <p:sp>
        <p:nvSpPr>
          <p:cNvPr id="28" name="TextBox 27"/>
          <p:cNvSpPr txBox="1"/>
          <p:nvPr/>
        </p:nvSpPr>
        <p:spPr>
          <a:xfrm>
            <a:off x="7315200" y="4297680"/>
            <a:ext cx="3657600" cy="365760"/>
          </a:xfrm>
          <a:prstGeom prst="rect">
            <a:avLst/>
          </a:prstGeom>
          <a:noFill/>
        </p:spPr>
        <p:txBody>
          <a:bodyPr wrap="square">
            <a:spAutoFit/>
          </a:bodyPr>
          <a:lstStyle/>
          <a:p>
            <a:pPr algn="l">
              <a:defRPr sz="1400" b="0" i="0">
                <a:solidFill>
                  <a:srgbClr val="CCD5E0"/>
                </a:solidFill>
                <a:latin typeface="Calibri"/>
              </a:defRPr>
            </a:pPr>
            <a:r>
              <a:t>Lý do sách phù hợp</a:t>
            </a:r>
          </a:p>
        </p:txBody>
      </p:sp>
      <p:pic>
        <p:nvPicPr>
          <p:cNvPr id="29" name="Picture 28" descr="star.png"/>
          <p:cNvPicPr>
            <a:picLocks noChangeAspect="1"/>
          </p:cNvPicPr>
          <p:nvPr/>
        </p:nvPicPr>
        <p:blipFill>
          <a:blip r:embed="rId8"/>
          <a:stretch>
            <a:fillRect/>
          </a:stretch>
        </p:blipFill>
        <p:spPr>
          <a:xfrm>
            <a:off x="6858000" y="4846320"/>
            <a:ext cx="320040" cy="320040"/>
          </a:xfrm>
          <a:prstGeom prst="rect">
            <a:avLst/>
          </a:prstGeom>
        </p:spPr>
      </p:pic>
      <p:sp>
        <p:nvSpPr>
          <p:cNvPr id="30" name="TextBox 29"/>
          <p:cNvSpPr txBox="1"/>
          <p:nvPr/>
        </p:nvSpPr>
        <p:spPr>
          <a:xfrm>
            <a:off x="7315200" y="4846320"/>
            <a:ext cx="3657600" cy="365760"/>
          </a:xfrm>
          <a:prstGeom prst="rect">
            <a:avLst/>
          </a:prstGeom>
          <a:noFill/>
        </p:spPr>
        <p:txBody>
          <a:bodyPr wrap="square">
            <a:spAutoFit/>
          </a:bodyPr>
          <a:lstStyle/>
          <a:p>
            <a:pPr algn="l">
              <a:defRPr sz="1400" b="0" i="0">
                <a:solidFill>
                  <a:srgbClr val="CCD5E0"/>
                </a:solidFill>
                <a:latin typeface="Calibri"/>
              </a:defRPr>
            </a:pPr>
            <a:r>
              <a:t>Từ khóa gợi ý hình ảnh</a:t>
            </a:r>
          </a:p>
        </p:txBody>
      </p:sp>
      <p:sp>
        <p:nvSpPr>
          <p:cNvPr id="31" name="TextBox 30"/>
          <p:cNvSpPr txBox="1"/>
          <p:nvPr/>
        </p:nvSpPr>
        <p:spPr>
          <a:xfrm>
            <a:off x="6675120" y="5394960"/>
            <a:ext cx="4572000" cy="457200"/>
          </a:xfrm>
          <a:prstGeom prst="rect">
            <a:avLst/>
          </a:prstGeom>
          <a:noFill/>
        </p:spPr>
        <p:txBody>
          <a:bodyPr wrap="square">
            <a:spAutoFit/>
          </a:bodyPr>
          <a:lstStyle/>
          <a:p>
            <a:pPr algn="l">
              <a:defRPr sz="1400" b="1" i="0">
                <a:solidFill>
                  <a:srgbClr val="4A90D9"/>
                </a:solidFill>
                <a:latin typeface="Calibri"/>
              </a:defRPr>
            </a:pPr>
            <a:r>
              <a:t>Tính năng "Gợi ý lại" — không trùng lặp</a:t>
            </a:r>
          </a:p>
        </p:txBody>
      </p:sp>
      <p:sp>
        <p:nvSpPr>
          <p:cNvPr id="32" name="TextBox 31"/>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12 / 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Hệ thống thử thách và mục tiêu đọc</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554480"/>
            <a:ext cx="356616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arget.png"/>
          <p:cNvPicPr>
            <a:picLocks noChangeAspect="1"/>
          </p:cNvPicPr>
          <p:nvPr/>
        </p:nvPicPr>
        <p:blipFill>
          <a:blip r:embed="rId2"/>
          <a:stretch>
            <a:fillRect/>
          </a:stretch>
        </p:blipFill>
        <p:spPr>
          <a:xfrm>
            <a:off x="2011680" y="1645920"/>
            <a:ext cx="548640" cy="548640"/>
          </a:xfrm>
          <a:prstGeom prst="rect">
            <a:avLst/>
          </a:prstGeom>
        </p:spPr>
      </p:pic>
      <p:sp>
        <p:nvSpPr>
          <p:cNvPr id="7" name="TextBox 6"/>
          <p:cNvSpPr txBox="1"/>
          <p:nvPr/>
        </p:nvSpPr>
        <p:spPr>
          <a:xfrm>
            <a:off x="731520" y="2286000"/>
            <a:ext cx="3200400" cy="640080"/>
          </a:xfrm>
          <a:prstGeom prst="rect">
            <a:avLst/>
          </a:prstGeom>
          <a:noFill/>
        </p:spPr>
        <p:txBody>
          <a:bodyPr wrap="square">
            <a:spAutoFit/>
          </a:bodyPr>
          <a:lstStyle/>
          <a:p>
            <a:pPr algn="ctr">
              <a:defRPr sz="1600" b="1" i="0">
                <a:solidFill>
                  <a:srgbClr val="1A3C6E"/>
                </a:solidFill>
                <a:latin typeface="Calibri"/>
              </a:defRPr>
            </a:pPr>
            <a:r>
              <a:t>Nhiệm vụ hàng ngày</a:t>
            </a:r>
            <a:br/>
            <a:r>
              <a:t>Daily Missions</a:t>
            </a:r>
          </a:p>
        </p:txBody>
      </p:sp>
      <p:sp>
        <p:nvSpPr>
          <p:cNvPr id="8" name="Rectangle 7"/>
          <p:cNvSpPr/>
          <p:nvPr/>
        </p:nvSpPr>
        <p:spPr>
          <a:xfrm>
            <a:off x="1280160" y="3017520"/>
            <a:ext cx="2103120" cy="27432"/>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200400"/>
            <a:ext cx="3017520" cy="365760"/>
          </a:xfrm>
          <a:prstGeom prst="rect">
            <a:avLst/>
          </a:prstGeom>
          <a:noFill/>
        </p:spPr>
        <p:txBody>
          <a:bodyPr wrap="square">
            <a:spAutoFit/>
          </a:bodyPr>
          <a:lstStyle/>
          <a:p>
            <a:pPr algn="ctr">
              <a:defRPr sz="1200" b="0" i="0">
                <a:solidFill>
                  <a:srgbClr val="6B7280"/>
                </a:solidFill>
                <a:latin typeface="Calibri"/>
              </a:defRPr>
            </a:pPr>
            <a:r>
              <a:t>Các mục tiêu nhỏ mỗi ngày:</a:t>
            </a:r>
          </a:p>
        </p:txBody>
      </p:sp>
      <p:sp>
        <p:nvSpPr>
          <p:cNvPr id="10" name="TextBox 9"/>
          <p:cNvSpPr txBox="1"/>
          <p:nvPr/>
        </p:nvSpPr>
        <p:spPr>
          <a:xfrm>
            <a:off x="822960" y="3566160"/>
            <a:ext cx="3017520" cy="411480"/>
          </a:xfrm>
          <a:prstGeom prst="rect">
            <a:avLst/>
          </a:prstGeom>
          <a:noFill/>
        </p:spPr>
        <p:txBody>
          <a:bodyPr wrap="square">
            <a:spAutoFit/>
          </a:bodyPr>
          <a:lstStyle/>
          <a:p>
            <a:pPr algn="l">
              <a:defRPr sz="1200" b="0" i="0">
                <a:solidFill>
                  <a:srgbClr val="1E1E1E"/>
                </a:solidFill>
                <a:latin typeface="Calibri"/>
              </a:defRPr>
            </a:pPr>
            <a:r>
              <a:t>• Đọc 15 phút (+50 XP)</a:t>
            </a:r>
          </a:p>
        </p:txBody>
      </p:sp>
      <p:sp>
        <p:nvSpPr>
          <p:cNvPr id="11" name="TextBox 10"/>
          <p:cNvSpPr txBox="1"/>
          <p:nvPr/>
        </p:nvSpPr>
        <p:spPr>
          <a:xfrm>
            <a:off x="822960" y="3995928"/>
            <a:ext cx="3017520" cy="411480"/>
          </a:xfrm>
          <a:prstGeom prst="rect">
            <a:avLst/>
          </a:prstGeom>
          <a:noFill/>
        </p:spPr>
        <p:txBody>
          <a:bodyPr wrap="square">
            <a:spAutoFit/>
          </a:bodyPr>
          <a:lstStyle/>
          <a:p>
            <a:pPr algn="l">
              <a:defRPr sz="1200" b="0" i="0">
                <a:solidFill>
                  <a:srgbClr val="1E1E1E"/>
                </a:solidFill>
                <a:latin typeface="Calibri"/>
              </a:defRPr>
            </a:pPr>
            <a:r>
              <a:t>• Hoàn thành 1 chương (+100 XP)</a:t>
            </a:r>
          </a:p>
        </p:txBody>
      </p:sp>
      <p:sp>
        <p:nvSpPr>
          <p:cNvPr id="12" name="TextBox 11"/>
          <p:cNvSpPr txBox="1"/>
          <p:nvPr/>
        </p:nvSpPr>
        <p:spPr>
          <a:xfrm>
            <a:off x="822960" y="4425696"/>
            <a:ext cx="3017520" cy="411480"/>
          </a:xfrm>
          <a:prstGeom prst="rect">
            <a:avLst/>
          </a:prstGeom>
          <a:noFill/>
        </p:spPr>
        <p:txBody>
          <a:bodyPr wrap="square">
            <a:spAutoFit/>
          </a:bodyPr>
          <a:lstStyle/>
          <a:p>
            <a:pPr algn="l">
              <a:defRPr sz="1200" b="0" i="0">
                <a:solidFill>
                  <a:srgbClr val="1E1E1E"/>
                </a:solidFill>
                <a:latin typeface="Calibri"/>
              </a:defRPr>
            </a:pPr>
            <a:r>
              <a:t>• Đọc buổi sáng (+40 XP)</a:t>
            </a:r>
          </a:p>
        </p:txBody>
      </p:sp>
      <p:sp>
        <p:nvSpPr>
          <p:cNvPr id="13" name="TextBox 12"/>
          <p:cNvSpPr txBox="1"/>
          <p:nvPr/>
        </p:nvSpPr>
        <p:spPr>
          <a:xfrm>
            <a:off x="822960" y="4855464"/>
            <a:ext cx="3017520" cy="411480"/>
          </a:xfrm>
          <a:prstGeom prst="rect">
            <a:avLst/>
          </a:prstGeom>
          <a:noFill/>
        </p:spPr>
        <p:txBody>
          <a:bodyPr wrap="square">
            <a:spAutoFit/>
          </a:bodyPr>
          <a:lstStyle/>
          <a:p>
            <a:pPr algn="l">
              <a:defRPr sz="1200" b="0" i="0">
                <a:solidFill>
                  <a:srgbClr val="1E1E1E"/>
                </a:solidFill>
                <a:latin typeface="Calibri"/>
              </a:defRPr>
            </a:pPr>
            <a:r>
              <a:t>• Đọc buổi tối (+40 XP)</a:t>
            </a:r>
          </a:p>
        </p:txBody>
      </p:sp>
      <p:sp>
        <p:nvSpPr>
          <p:cNvPr id="14" name="TextBox 13"/>
          <p:cNvSpPr txBox="1"/>
          <p:nvPr/>
        </p:nvSpPr>
        <p:spPr>
          <a:xfrm>
            <a:off x="822960" y="5285232"/>
            <a:ext cx="3017520" cy="411480"/>
          </a:xfrm>
          <a:prstGeom prst="rect">
            <a:avLst/>
          </a:prstGeom>
          <a:noFill/>
        </p:spPr>
        <p:txBody>
          <a:bodyPr wrap="square">
            <a:spAutoFit/>
          </a:bodyPr>
          <a:lstStyle/>
          <a:p>
            <a:pPr algn="l">
              <a:defRPr sz="1200" b="0" i="0">
                <a:solidFill>
                  <a:srgbClr val="1E1E1E"/>
                </a:solidFill>
                <a:latin typeface="Calibri"/>
              </a:defRPr>
            </a:pPr>
            <a:r>
              <a:t>• Focus 25 phút (+80 XP)</a:t>
            </a:r>
          </a:p>
        </p:txBody>
      </p:sp>
      <p:sp>
        <p:nvSpPr>
          <p:cNvPr id="15" name="TextBox 14"/>
          <p:cNvSpPr txBox="1"/>
          <p:nvPr/>
        </p:nvSpPr>
        <p:spPr>
          <a:xfrm>
            <a:off x="822960" y="5715000"/>
            <a:ext cx="3017520" cy="411480"/>
          </a:xfrm>
          <a:prstGeom prst="rect">
            <a:avLst/>
          </a:prstGeom>
          <a:noFill/>
        </p:spPr>
        <p:txBody>
          <a:bodyPr wrap="square">
            <a:spAutoFit/>
          </a:bodyPr>
          <a:lstStyle/>
          <a:p>
            <a:pPr algn="l">
              <a:defRPr sz="1200" b="0" i="0">
                <a:solidFill>
                  <a:srgbClr val="1E1E1E"/>
                </a:solidFill>
                <a:latin typeface="Calibri"/>
              </a:defRPr>
            </a:pPr>
            <a:r>
              <a:t>• Đọc 20 trang (+90 XP)</a:t>
            </a:r>
          </a:p>
        </p:txBody>
      </p:sp>
      <p:sp>
        <p:nvSpPr>
          <p:cNvPr id="18" name="Rounded Rectangle 17"/>
          <p:cNvSpPr/>
          <p:nvPr/>
        </p:nvSpPr>
        <p:spPr>
          <a:xfrm>
            <a:off x="4389120" y="1554480"/>
            <a:ext cx="356616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trophy.png"/>
          <p:cNvPicPr>
            <a:picLocks noChangeAspect="1"/>
          </p:cNvPicPr>
          <p:nvPr/>
        </p:nvPicPr>
        <p:blipFill>
          <a:blip r:embed="rId3"/>
          <a:stretch>
            <a:fillRect/>
          </a:stretch>
        </p:blipFill>
        <p:spPr>
          <a:xfrm>
            <a:off x="5852160" y="1645920"/>
            <a:ext cx="548640" cy="548640"/>
          </a:xfrm>
          <a:prstGeom prst="rect">
            <a:avLst/>
          </a:prstGeom>
        </p:spPr>
      </p:pic>
      <p:sp>
        <p:nvSpPr>
          <p:cNvPr id="20" name="TextBox 19"/>
          <p:cNvSpPr txBox="1"/>
          <p:nvPr/>
        </p:nvSpPr>
        <p:spPr>
          <a:xfrm>
            <a:off x="4572000" y="2286000"/>
            <a:ext cx="3200400" cy="640080"/>
          </a:xfrm>
          <a:prstGeom prst="rect">
            <a:avLst/>
          </a:prstGeom>
          <a:noFill/>
        </p:spPr>
        <p:txBody>
          <a:bodyPr wrap="square">
            <a:spAutoFit/>
          </a:bodyPr>
          <a:lstStyle/>
          <a:p>
            <a:pPr algn="ctr">
              <a:defRPr sz="1600" b="1" i="0">
                <a:solidFill>
                  <a:srgbClr val="2D5F8A"/>
                </a:solidFill>
                <a:latin typeface="Calibri"/>
              </a:defRPr>
            </a:pPr>
            <a:r>
              <a:t>Thử thách dài hạn</a:t>
            </a:r>
            <a:br/>
            <a:r>
              <a:t>Challenges</a:t>
            </a:r>
          </a:p>
        </p:txBody>
      </p:sp>
      <p:sp>
        <p:nvSpPr>
          <p:cNvPr id="21" name="Rectangle 20"/>
          <p:cNvSpPr/>
          <p:nvPr/>
        </p:nvSpPr>
        <p:spPr>
          <a:xfrm>
            <a:off x="5120640" y="3017520"/>
            <a:ext cx="210312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63440" y="3200400"/>
            <a:ext cx="3017520" cy="365760"/>
          </a:xfrm>
          <a:prstGeom prst="rect">
            <a:avLst/>
          </a:prstGeom>
          <a:noFill/>
        </p:spPr>
        <p:txBody>
          <a:bodyPr wrap="square">
            <a:spAutoFit/>
          </a:bodyPr>
          <a:lstStyle/>
          <a:p>
            <a:pPr algn="ctr">
              <a:defRPr sz="1200" b="0" i="0">
                <a:solidFill>
                  <a:srgbClr val="6B7280"/>
                </a:solidFill>
                <a:latin typeface="Calibri"/>
              </a:defRPr>
            </a:pPr>
            <a:r>
              <a:t>Mục tiêu lớn, đòi hỏi kiên trì:</a:t>
            </a:r>
          </a:p>
        </p:txBody>
      </p:sp>
      <p:sp>
        <p:nvSpPr>
          <p:cNvPr id="23" name="TextBox 22"/>
          <p:cNvSpPr txBox="1"/>
          <p:nvPr/>
        </p:nvSpPr>
        <p:spPr>
          <a:xfrm>
            <a:off x="4663440" y="3566160"/>
            <a:ext cx="3017520" cy="411480"/>
          </a:xfrm>
          <a:prstGeom prst="rect">
            <a:avLst/>
          </a:prstGeom>
          <a:noFill/>
        </p:spPr>
        <p:txBody>
          <a:bodyPr wrap="square">
            <a:spAutoFit/>
          </a:bodyPr>
          <a:lstStyle/>
          <a:p>
            <a:pPr algn="l">
              <a:defRPr sz="1200" b="0" i="0">
                <a:solidFill>
                  <a:srgbClr val="1E1E1E"/>
                </a:solidFill>
                <a:latin typeface="Calibri"/>
              </a:defRPr>
            </a:pPr>
            <a:r>
              <a:t>• Đọc 7 ngày liên tiếp (+500 XP)</a:t>
            </a:r>
          </a:p>
        </p:txBody>
      </p:sp>
      <p:sp>
        <p:nvSpPr>
          <p:cNvPr id="24" name="TextBox 23"/>
          <p:cNvSpPr txBox="1"/>
          <p:nvPr/>
        </p:nvSpPr>
        <p:spPr>
          <a:xfrm>
            <a:off x="4663440" y="3995928"/>
            <a:ext cx="3017520" cy="411480"/>
          </a:xfrm>
          <a:prstGeom prst="rect">
            <a:avLst/>
          </a:prstGeom>
          <a:noFill/>
        </p:spPr>
        <p:txBody>
          <a:bodyPr wrap="square">
            <a:spAutoFit/>
          </a:bodyPr>
          <a:lstStyle/>
          <a:p>
            <a:pPr algn="l">
              <a:defRPr sz="1200" b="0" i="0">
                <a:solidFill>
                  <a:srgbClr val="1E1E1E"/>
                </a:solidFill>
                <a:latin typeface="Calibri"/>
              </a:defRPr>
            </a:pPr>
            <a:r>
              <a:t>• Hoàn thành 2 cuốn/tháng (+1000 XP)</a:t>
            </a:r>
          </a:p>
        </p:txBody>
      </p:sp>
      <p:sp>
        <p:nvSpPr>
          <p:cNvPr id="25" name="TextBox 24"/>
          <p:cNvSpPr txBox="1"/>
          <p:nvPr/>
        </p:nvSpPr>
        <p:spPr>
          <a:xfrm>
            <a:off x="4663440" y="4425696"/>
            <a:ext cx="3017520" cy="411480"/>
          </a:xfrm>
          <a:prstGeom prst="rect">
            <a:avLst/>
          </a:prstGeom>
          <a:noFill/>
        </p:spPr>
        <p:txBody>
          <a:bodyPr wrap="square">
            <a:spAutoFit/>
          </a:bodyPr>
          <a:lstStyle/>
          <a:p>
            <a:pPr algn="l">
              <a:defRPr sz="1200" b="0" i="0">
                <a:solidFill>
                  <a:srgbClr val="1E1E1E"/>
                </a:solidFill>
                <a:latin typeface="Calibri"/>
              </a:defRPr>
            </a:pPr>
            <a:r>
              <a:t>• Tích lũy 10 giờ/tháng (+800 XP)</a:t>
            </a:r>
          </a:p>
        </p:txBody>
      </p:sp>
      <p:sp>
        <p:nvSpPr>
          <p:cNvPr id="26" name="Rounded Rectangle 25"/>
          <p:cNvSpPr/>
          <p:nvPr/>
        </p:nvSpPr>
        <p:spPr>
          <a:xfrm>
            <a:off x="8229600" y="1554480"/>
            <a:ext cx="356616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medal.png"/>
          <p:cNvPicPr>
            <a:picLocks noChangeAspect="1"/>
          </p:cNvPicPr>
          <p:nvPr/>
        </p:nvPicPr>
        <p:blipFill>
          <a:blip r:embed="rId4"/>
          <a:stretch>
            <a:fillRect/>
          </a:stretch>
        </p:blipFill>
        <p:spPr>
          <a:xfrm>
            <a:off x="9692640" y="1645920"/>
            <a:ext cx="548640" cy="548640"/>
          </a:xfrm>
          <a:prstGeom prst="rect">
            <a:avLst/>
          </a:prstGeom>
        </p:spPr>
      </p:pic>
      <p:sp>
        <p:nvSpPr>
          <p:cNvPr id="28" name="TextBox 27"/>
          <p:cNvSpPr txBox="1"/>
          <p:nvPr/>
        </p:nvSpPr>
        <p:spPr>
          <a:xfrm>
            <a:off x="8412480" y="2286000"/>
            <a:ext cx="3200400" cy="640080"/>
          </a:xfrm>
          <a:prstGeom prst="rect">
            <a:avLst/>
          </a:prstGeom>
          <a:noFill/>
        </p:spPr>
        <p:txBody>
          <a:bodyPr wrap="square">
            <a:spAutoFit/>
          </a:bodyPr>
          <a:lstStyle/>
          <a:p>
            <a:pPr algn="ctr">
              <a:defRPr sz="1600" b="1" i="0">
                <a:solidFill>
                  <a:srgbClr val="4A90D9"/>
                </a:solidFill>
                <a:latin typeface="Calibri"/>
              </a:defRPr>
            </a:pPr>
            <a:r>
              <a:t>Danh hiệu</a:t>
            </a:r>
            <a:br/>
            <a:r>
              <a:t>Badges</a:t>
            </a:r>
          </a:p>
        </p:txBody>
      </p:sp>
      <p:sp>
        <p:nvSpPr>
          <p:cNvPr id="29" name="Rectangle 28"/>
          <p:cNvSpPr/>
          <p:nvPr/>
        </p:nvSpPr>
        <p:spPr>
          <a:xfrm>
            <a:off x="8961120" y="3017520"/>
            <a:ext cx="210312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0" y="3200400"/>
            <a:ext cx="3017520" cy="365760"/>
          </a:xfrm>
          <a:prstGeom prst="rect">
            <a:avLst/>
          </a:prstGeom>
          <a:noFill/>
        </p:spPr>
        <p:txBody>
          <a:bodyPr wrap="square">
            <a:spAutoFit/>
          </a:bodyPr>
          <a:lstStyle/>
          <a:p>
            <a:pPr algn="ctr">
              <a:defRPr sz="1200" b="0" i="0">
                <a:solidFill>
                  <a:srgbClr val="6B7280"/>
                </a:solidFill>
                <a:latin typeface="Calibri"/>
              </a:defRPr>
            </a:pPr>
            <a:r>
              <a:t>Cột mốc quan trọng:</a:t>
            </a:r>
          </a:p>
        </p:txBody>
      </p:sp>
      <p:sp>
        <p:nvSpPr>
          <p:cNvPr id="31" name="TextBox 30"/>
          <p:cNvSpPr txBox="1"/>
          <p:nvPr/>
        </p:nvSpPr>
        <p:spPr>
          <a:xfrm>
            <a:off x="8503920" y="3566160"/>
            <a:ext cx="3017520" cy="411480"/>
          </a:xfrm>
          <a:prstGeom prst="rect">
            <a:avLst/>
          </a:prstGeom>
          <a:noFill/>
        </p:spPr>
        <p:txBody>
          <a:bodyPr wrap="square">
            <a:spAutoFit/>
          </a:bodyPr>
          <a:lstStyle/>
          <a:p>
            <a:pPr algn="l">
              <a:defRPr sz="1200" b="0" i="0">
                <a:solidFill>
                  <a:srgbClr val="1E1E1E"/>
                </a:solidFill>
                <a:latin typeface="Calibri"/>
              </a:defRPr>
            </a:pPr>
            <a:r>
              <a:t>• Người Mới — 1 nhiệm vụ</a:t>
            </a:r>
          </a:p>
        </p:txBody>
      </p:sp>
      <p:sp>
        <p:nvSpPr>
          <p:cNvPr id="32" name="TextBox 31"/>
          <p:cNvSpPr txBox="1"/>
          <p:nvPr/>
        </p:nvSpPr>
        <p:spPr>
          <a:xfrm>
            <a:off x="8503920" y="3995928"/>
            <a:ext cx="3017520" cy="411480"/>
          </a:xfrm>
          <a:prstGeom prst="rect">
            <a:avLst/>
          </a:prstGeom>
          <a:noFill/>
        </p:spPr>
        <p:txBody>
          <a:bodyPr wrap="square">
            <a:spAutoFit/>
          </a:bodyPr>
          <a:lstStyle/>
          <a:p>
            <a:pPr algn="l">
              <a:defRPr sz="1200" b="0" i="0">
                <a:solidFill>
                  <a:srgbClr val="1E1E1E"/>
                </a:solidFill>
                <a:latin typeface="Calibri"/>
              </a:defRPr>
            </a:pPr>
            <a:r>
              <a:t>• Tốc Độ — 30+ phút đọc</a:t>
            </a:r>
          </a:p>
        </p:txBody>
      </p:sp>
      <p:sp>
        <p:nvSpPr>
          <p:cNvPr id="33" name="TextBox 32"/>
          <p:cNvSpPr txBox="1"/>
          <p:nvPr/>
        </p:nvSpPr>
        <p:spPr>
          <a:xfrm>
            <a:off x="8503920" y="4425696"/>
            <a:ext cx="3017520" cy="411480"/>
          </a:xfrm>
          <a:prstGeom prst="rect">
            <a:avLst/>
          </a:prstGeom>
          <a:noFill/>
        </p:spPr>
        <p:txBody>
          <a:bodyPr wrap="square">
            <a:spAutoFit/>
          </a:bodyPr>
          <a:lstStyle/>
          <a:p>
            <a:pPr algn="l">
              <a:defRPr sz="1200" b="0" i="0">
                <a:solidFill>
                  <a:srgbClr val="1E1E1E"/>
                </a:solidFill>
                <a:latin typeface="Calibri"/>
              </a:defRPr>
            </a:pPr>
            <a:r>
              <a:t>• Kim Cương — chuỗi 30 ngày</a:t>
            </a:r>
          </a:p>
        </p:txBody>
      </p:sp>
      <p:sp>
        <p:nvSpPr>
          <p:cNvPr id="34" name="TextBox 33"/>
          <p:cNvSpPr txBox="1"/>
          <p:nvPr/>
        </p:nvSpPr>
        <p:spPr>
          <a:xfrm>
            <a:off x="8503920" y="4855464"/>
            <a:ext cx="3017520" cy="411480"/>
          </a:xfrm>
          <a:prstGeom prst="rect">
            <a:avLst/>
          </a:prstGeom>
          <a:noFill/>
        </p:spPr>
        <p:txBody>
          <a:bodyPr wrap="square">
            <a:spAutoFit/>
          </a:bodyPr>
          <a:lstStyle/>
          <a:p>
            <a:pPr algn="l">
              <a:defRPr sz="1200" b="0" i="0">
                <a:solidFill>
                  <a:srgbClr val="1E1E1E"/>
                </a:solidFill>
                <a:latin typeface="Calibri"/>
              </a:defRPr>
            </a:pPr>
            <a:r>
              <a:t>• Học Giả — 10 cuốn sách</a:t>
            </a:r>
          </a:p>
        </p:txBody>
      </p:sp>
      <p:sp>
        <p:nvSpPr>
          <p:cNvPr id="35" name="TextBox 34"/>
          <p:cNvSpPr txBox="1"/>
          <p:nvPr/>
        </p:nvSpPr>
        <p:spPr>
          <a:xfrm>
            <a:off x="8503920" y="5285232"/>
            <a:ext cx="3017520" cy="411480"/>
          </a:xfrm>
          <a:prstGeom prst="rect">
            <a:avLst/>
          </a:prstGeom>
          <a:noFill/>
        </p:spPr>
        <p:txBody>
          <a:bodyPr wrap="square">
            <a:spAutoFit/>
          </a:bodyPr>
          <a:lstStyle/>
          <a:p>
            <a:pPr algn="l">
              <a:defRPr sz="1200" b="0" i="0">
                <a:solidFill>
                  <a:srgbClr val="1E1E1E"/>
                </a:solidFill>
                <a:latin typeface="Calibri"/>
              </a:defRPr>
            </a:pPr>
            <a:r>
              <a:t>• Cú Đêm — đọc đêm 5+ lần</a:t>
            </a:r>
          </a:p>
        </p:txBody>
      </p:sp>
      <p:sp>
        <p:nvSpPr>
          <p:cNvPr id="36" name="TextBox 35"/>
          <p:cNvSpPr txBox="1"/>
          <p:nvPr/>
        </p:nvSpPr>
        <p:spPr>
          <a:xfrm>
            <a:off x="8503920" y="5715000"/>
            <a:ext cx="3017520" cy="411480"/>
          </a:xfrm>
          <a:prstGeom prst="rect">
            <a:avLst/>
          </a:prstGeom>
          <a:noFill/>
        </p:spPr>
        <p:txBody>
          <a:bodyPr wrap="square">
            <a:spAutoFit/>
          </a:bodyPr>
          <a:lstStyle/>
          <a:p>
            <a:pPr algn="l">
              <a:defRPr sz="1200" b="0" i="0">
                <a:solidFill>
                  <a:srgbClr val="1E1E1E"/>
                </a:solidFill>
                <a:latin typeface="Calibri"/>
              </a:defRPr>
            </a:pPr>
            <a:r>
              <a:t>• Ghi Chép — 100+ trích dẫn</a:t>
            </a:r>
          </a:p>
        </p:txBody>
      </p:sp>
      <p:sp>
        <p:nvSpPr>
          <p:cNvPr id="37" name="TextBox 3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13 / 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Đồng hồ Pomodoro — Tập trung đọc sách</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88720" y="1554480"/>
            <a:ext cx="731520" cy="73152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1673352"/>
            <a:ext cx="731520" cy="457200"/>
          </a:xfrm>
          <a:prstGeom prst="rect">
            <a:avLst/>
          </a:prstGeom>
          <a:noFill/>
        </p:spPr>
        <p:txBody>
          <a:bodyPr wrap="square">
            <a:spAutoFit/>
          </a:bodyPr>
          <a:lstStyle/>
          <a:p>
            <a:pPr algn="ctr">
              <a:defRPr sz="2200" b="1" i="0">
                <a:solidFill>
                  <a:srgbClr val="FFFFFF"/>
                </a:solidFill>
                <a:latin typeface="Calibri"/>
              </a:defRPr>
            </a:pPr>
            <a:r>
              <a:t>1</a:t>
            </a:r>
          </a:p>
        </p:txBody>
      </p:sp>
      <p:sp>
        <p:nvSpPr>
          <p:cNvPr id="7" name="TextBox 6"/>
          <p:cNvSpPr txBox="1"/>
          <p:nvPr/>
        </p:nvSpPr>
        <p:spPr>
          <a:xfrm>
            <a:off x="1920240" y="1737360"/>
            <a:ext cx="731520" cy="365760"/>
          </a:xfrm>
          <a:prstGeom prst="rect">
            <a:avLst/>
          </a:prstGeom>
          <a:noFill/>
        </p:spPr>
        <p:txBody>
          <a:bodyPr wrap="square">
            <a:spAutoFit/>
          </a:bodyPr>
          <a:lstStyle/>
          <a:p>
            <a:pPr algn="l">
              <a:defRPr sz="2000" b="0" i="0">
                <a:solidFill>
                  <a:srgbClr val="6B7280"/>
                </a:solidFill>
                <a:latin typeface="Calibri"/>
              </a:defRPr>
            </a:pPr>
            <a:r>
              <a:t>→</a:t>
            </a:r>
          </a:p>
        </p:txBody>
      </p:sp>
      <p:sp>
        <p:nvSpPr>
          <p:cNvPr id="8" name="TextBox 7"/>
          <p:cNvSpPr txBox="1"/>
          <p:nvPr/>
        </p:nvSpPr>
        <p:spPr>
          <a:xfrm>
            <a:off x="457200" y="2468880"/>
            <a:ext cx="2194560" cy="365760"/>
          </a:xfrm>
          <a:prstGeom prst="rect">
            <a:avLst/>
          </a:prstGeom>
          <a:noFill/>
        </p:spPr>
        <p:txBody>
          <a:bodyPr wrap="square">
            <a:spAutoFit/>
          </a:bodyPr>
          <a:lstStyle/>
          <a:p>
            <a:pPr algn="ctr">
              <a:defRPr sz="1500" b="1" i="0">
                <a:solidFill>
                  <a:srgbClr val="1E1E1E"/>
                </a:solidFill>
                <a:latin typeface="Calibri"/>
              </a:defRPr>
            </a:pPr>
            <a:r>
              <a:t>Chọn nhiệm vụ</a:t>
            </a:r>
          </a:p>
        </p:txBody>
      </p:sp>
      <p:sp>
        <p:nvSpPr>
          <p:cNvPr id="9" name="TextBox 8"/>
          <p:cNvSpPr txBox="1"/>
          <p:nvPr/>
        </p:nvSpPr>
        <p:spPr>
          <a:xfrm>
            <a:off x="548640" y="2834640"/>
            <a:ext cx="2011680" cy="731520"/>
          </a:xfrm>
          <a:prstGeom prst="rect">
            <a:avLst/>
          </a:prstGeom>
          <a:noFill/>
        </p:spPr>
        <p:txBody>
          <a:bodyPr wrap="square">
            <a:spAutoFit/>
          </a:bodyPr>
          <a:lstStyle/>
          <a:p>
            <a:pPr algn="ctr">
              <a:defRPr sz="1200" b="0" i="0">
                <a:solidFill>
                  <a:srgbClr val="6B7280"/>
                </a:solidFill>
                <a:latin typeface="Calibri"/>
              </a:defRPr>
            </a:pPr>
            <a:r>
              <a:t>Ví dụ: "Đọc 15 phút"</a:t>
            </a:r>
            <a:br/>
            <a:r>
              <a:t>trên trang Mission</a:t>
            </a:r>
          </a:p>
        </p:txBody>
      </p:sp>
      <p:sp>
        <p:nvSpPr>
          <p:cNvPr id="10" name="Oval 9"/>
          <p:cNvSpPr/>
          <p:nvPr/>
        </p:nvSpPr>
        <p:spPr>
          <a:xfrm>
            <a:off x="3566160" y="1554480"/>
            <a:ext cx="731520" cy="73152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66160" y="1673352"/>
            <a:ext cx="731520" cy="457200"/>
          </a:xfrm>
          <a:prstGeom prst="rect">
            <a:avLst/>
          </a:prstGeom>
          <a:noFill/>
        </p:spPr>
        <p:txBody>
          <a:bodyPr wrap="square">
            <a:spAutoFit/>
          </a:bodyPr>
          <a:lstStyle/>
          <a:p>
            <a:pPr algn="ctr">
              <a:defRPr sz="2200" b="1" i="0">
                <a:solidFill>
                  <a:srgbClr val="FFFFFF"/>
                </a:solidFill>
                <a:latin typeface="Calibri"/>
              </a:defRPr>
            </a:pPr>
            <a:r>
              <a:t>2</a:t>
            </a:r>
          </a:p>
        </p:txBody>
      </p:sp>
      <p:sp>
        <p:nvSpPr>
          <p:cNvPr id="12" name="TextBox 11"/>
          <p:cNvSpPr txBox="1"/>
          <p:nvPr/>
        </p:nvSpPr>
        <p:spPr>
          <a:xfrm>
            <a:off x="4297680" y="1737360"/>
            <a:ext cx="731520" cy="365760"/>
          </a:xfrm>
          <a:prstGeom prst="rect">
            <a:avLst/>
          </a:prstGeom>
          <a:noFill/>
        </p:spPr>
        <p:txBody>
          <a:bodyPr wrap="square">
            <a:spAutoFit/>
          </a:bodyPr>
          <a:lstStyle/>
          <a:p>
            <a:pPr algn="l">
              <a:defRPr sz="2000" b="0" i="0">
                <a:solidFill>
                  <a:srgbClr val="6B7280"/>
                </a:solidFill>
                <a:latin typeface="Calibri"/>
              </a:defRPr>
            </a:pPr>
            <a:r>
              <a:t>→</a:t>
            </a:r>
          </a:p>
        </p:txBody>
      </p:sp>
      <p:sp>
        <p:nvSpPr>
          <p:cNvPr id="13" name="TextBox 12"/>
          <p:cNvSpPr txBox="1"/>
          <p:nvPr/>
        </p:nvSpPr>
        <p:spPr>
          <a:xfrm>
            <a:off x="2834640" y="2468880"/>
            <a:ext cx="2194560" cy="365760"/>
          </a:xfrm>
          <a:prstGeom prst="rect">
            <a:avLst/>
          </a:prstGeom>
          <a:noFill/>
        </p:spPr>
        <p:txBody>
          <a:bodyPr wrap="square">
            <a:spAutoFit/>
          </a:bodyPr>
          <a:lstStyle/>
          <a:p>
            <a:pPr algn="ctr">
              <a:defRPr sz="1500" b="1" i="0">
                <a:solidFill>
                  <a:srgbClr val="1E1E1E"/>
                </a:solidFill>
                <a:latin typeface="Calibri"/>
              </a:defRPr>
            </a:pPr>
            <a:r>
              <a:t>Kích hoạt</a:t>
            </a:r>
          </a:p>
        </p:txBody>
      </p:sp>
      <p:sp>
        <p:nvSpPr>
          <p:cNvPr id="14" name="TextBox 13"/>
          <p:cNvSpPr txBox="1"/>
          <p:nvPr/>
        </p:nvSpPr>
        <p:spPr>
          <a:xfrm>
            <a:off x="2926080" y="2834640"/>
            <a:ext cx="2011680" cy="731520"/>
          </a:xfrm>
          <a:prstGeom prst="rect">
            <a:avLst/>
          </a:prstGeom>
          <a:noFill/>
        </p:spPr>
        <p:txBody>
          <a:bodyPr wrap="square">
            <a:spAutoFit/>
          </a:bodyPr>
          <a:lstStyle/>
          <a:p>
            <a:pPr algn="ctr">
              <a:defRPr sz="1200" b="0" i="0">
                <a:solidFill>
                  <a:srgbClr val="6B7280"/>
                </a:solidFill>
                <a:latin typeface="Calibri"/>
              </a:defRPr>
            </a:pPr>
            <a:r>
              <a:t>Bắt đầu nhiệm vụ,</a:t>
            </a:r>
            <a:br/>
            <a:r>
              <a:t>hệ thống ghi nhận</a:t>
            </a:r>
          </a:p>
        </p:txBody>
      </p:sp>
      <p:sp>
        <p:nvSpPr>
          <p:cNvPr id="15" name="Oval 14"/>
          <p:cNvSpPr/>
          <p:nvPr/>
        </p:nvSpPr>
        <p:spPr>
          <a:xfrm>
            <a:off x="5943600" y="1554480"/>
            <a:ext cx="731520" cy="73152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673352"/>
            <a:ext cx="731520" cy="457200"/>
          </a:xfrm>
          <a:prstGeom prst="rect">
            <a:avLst/>
          </a:prstGeom>
          <a:noFill/>
        </p:spPr>
        <p:txBody>
          <a:bodyPr wrap="square">
            <a:spAutoFit/>
          </a:bodyPr>
          <a:lstStyle/>
          <a:p>
            <a:pPr algn="ctr">
              <a:defRPr sz="2200" b="1" i="0">
                <a:solidFill>
                  <a:srgbClr val="FFFFFF"/>
                </a:solidFill>
                <a:latin typeface="Calibri"/>
              </a:defRPr>
            </a:pPr>
            <a:r>
              <a:t>3</a:t>
            </a:r>
          </a:p>
        </p:txBody>
      </p:sp>
      <p:sp>
        <p:nvSpPr>
          <p:cNvPr id="17" name="TextBox 16"/>
          <p:cNvSpPr txBox="1"/>
          <p:nvPr/>
        </p:nvSpPr>
        <p:spPr>
          <a:xfrm>
            <a:off x="6675120" y="1737360"/>
            <a:ext cx="731520" cy="365760"/>
          </a:xfrm>
          <a:prstGeom prst="rect">
            <a:avLst/>
          </a:prstGeom>
          <a:noFill/>
        </p:spPr>
        <p:txBody>
          <a:bodyPr wrap="square">
            <a:spAutoFit/>
          </a:bodyPr>
          <a:lstStyle/>
          <a:p>
            <a:pPr algn="l">
              <a:defRPr sz="2000" b="0" i="0">
                <a:solidFill>
                  <a:srgbClr val="6B7280"/>
                </a:solidFill>
                <a:latin typeface="Calibri"/>
              </a:defRPr>
            </a:pPr>
            <a:r>
              <a:t>→</a:t>
            </a:r>
          </a:p>
        </p:txBody>
      </p:sp>
      <p:sp>
        <p:nvSpPr>
          <p:cNvPr id="18" name="TextBox 17"/>
          <p:cNvSpPr txBox="1"/>
          <p:nvPr/>
        </p:nvSpPr>
        <p:spPr>
          <a:xfrm>
            <a:off x="5212080" y="2468880"/>
            <a:ext cx="2194560" cy="365760"/>
          </a:xfrm>
          <a:prstGeom prst="rect">
            <a:avLst/>
          </a:prstGeom>
          <a:noFill/>
        </p:spPr>
        <p:txBody>
          <a:bodyPr wrap="square">
            <a:spAutoFit/>
          </a:bodyPr>
          <a:lstStyle/>
          <a:p>
            <a:pPr algn="ctr">
              <a:defRPr sz="1500" b="1" i="0">
                <a:solidFill>
                  <a:srgbClr val="1E1E1E"/>
                </a:solidFill>
                <a:latin typeface="Calibri"/>
              </a:defRPr>
            </a:pPr>
            <a:r>
              <a:t>Đọc tập trung</a:t>
            </a:r>
          </a:p>
        </p:txBody>
      </p:sp>
      <p:sp>
        <p:nvSpPr>
          <p:cNvPr id="19" name="TextBox 18"/>
          <p:cNvSpPr txBox="1"/>
          <p:nvPr/>
        </p:nvSpPr>
        <p:spPr>
          <a:xfrm>
            <a:off x="5303520" y="2834640"/>
            <a:ext cx="2011680" cy="731520"/>
          </a:xfrm>
          <a:prstGeom prst="rect">
            <a:avLst/>
          </a:prstGeom>
          <a:noFill/>
        </p:spPr>
        <p:txBody>
          <a:bodyPr wrap="square">
            <a:spAutoFit/>
          </a:bodyPr>
          <a:lstStyle/>
          <a:p>
            <a:pPr algn="ctr">
              <a:defRPr sz="1200" b="0" i="0">
                <a:solidFill>
                  <a:srgbClr val="6B7280"/>
                </a:solidFill>
                <a:latin typeface="Calibri"/>
              </a:defRPr>
            </a:pPr>
            <a:r>
              <a:t>Đồng hồ đếm ngược,</a:t>
            </a:r>
            <a:br/>
            <a:r>
              <a:t>vòng tròn tiến trình</a:t>
            </a:r>
          </a:p>
        </p:txBody>
      </p:sp>
      <p:sp>
        <p:nvSpPr>
          <p:cNvPr id="20" name="Oval 19"/>
          <p:cNvSpPr/>
          <p:nvPr/>
        </p:nvSpPr>
        <p:spPr>
          <a:xfrm>
            <a:off x="8321040" y="1554480"/>
            <a:ext cx="731520" cy="73152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1673352"/>
            <a:ext cx="731520" cy="457200"/>
          </a:xfrm>
          <a:prstGeom prst="rect">
            <a:avLst/>
          </a:prstGeom>
          <a:noFill/>
        </p:spPr>
        <p:txBody>
          <a:bodyPr wrap="square">
            <a:spAutoFit/>
          </a:bodyPr>
          <a:lstStyle/>
          <a:p>
            <a:pPr algn="ctr">
              <a:defRPr sz="2200" b="1" i="0">
                <a:solidFill>
                  <a:srgbClr val="FFFFFF"/>
                </a:solidFill>
                <a:latin typeface="Calibri"/>
              </a:defRPr>
            </a:pPr>
            <a:r>
              <a:t>4</a:t>
            </a:r>
          </a:p>
        </p:txBody>
      </p:sp>
      <p:sp>
        <p:nvSpPr>
          <p:cNvPr id="22" name="TextBox 21"/>
          <p:cNvSpPr txBox="1"/>
          <p:nvPr/>
        </p:nvSpPr>
        <p:spPr>
          <a:xfrm>
            <a:off x="9052560" y="1737360"/>
            <a:ext cx="731520" cy="365760"/>
          </a:xfrm>
          <a:prstGeom prst="rect">
            <a:avLst/>
          </a:prstGeom>
          <a:noFill/>
        </p:spPr>
        <p:txBody>
          <a:bodyPr wrap="square">
            <a:spAutoFit/>
          </a:bodyPr>
          <a:lstStyle/>
          <a:p>
            <a:pPr algn="l">
              <a:defRPr sz="2000" b="0" i="0">
                <a:solidFill>
                  <a:srgbClr val="6B7280"/>
                </a:solidFill>
                <a:latin typeface="Calibri"/>
              </a:defRPr>
            </a:pPr>
            <a:r>
              <a:t>→</a:t>
            </a:r>
          </a:p>
        </p:txBody>
      </p:sp>
      <p:sp>
        <p:nvSpPr>
          <p:cNvPr id="23" name="TextBox 22"/>
          <p:cNvSpPr txBox="1"/>
          <p:nvPr/>
        </p:nvSpPr>
        <p:spPr>
          <a:xfrm>
            <a:off x="7589520" y="2468880"/>
            <a:ext cx="2194560" cy="365760"/>
          </a:xfrm>
          <a:prstGeom prst="rect">
            <a:avLst/>
          </a:prstGeom>
          <a:noFill/>
        </p:spPr>
        <p:txBody>
          <a:bodyPr wrap="square">
            <a:spAutoFit/>
          </a:bodyPr>
          <a:lstStyle/>
          <a:p>
            <a:pPr algn="ctr">
              <a:defRPr sz="1500" b="1" i="0">
                <a:solidFill>
                  <a:srgbClr val="1E1E1E"/>
                </a:solidFill>
                <a:latin typeface="Calibri"/>
              </a:defRPr>
            </a:pPr>
            <a:r>
              <a:t>Viết nhật ký</a:t>
            </a:r>
          </a:p>
        </p:txBody>
      </p:sp>
      <p:sp>
        <p:nvSpPr>
          <p:cNvPr id="24" name="TextBox 23"/>
          <p:cNvSpPr txBox="1"/>
          <p:nvPr/>
        </p:nvSpPr>
        <p:spPr>
          <a:xfrm>
            <a:off x="7680960" y="2834640"/>
            <a:ext cx="2011680" cy="731520"/>
          </a:xfrm>
          <a:prstGeom prst="rect">
            <a:avLst/>
          </a:prstGeom>
          <a:noFill/>
        </p:spPr>
        <p:txBody>
          <a:bodyPr wrap="square">
            <a:spAutoFit/>
          </a:bodyPr>
          <a:lstStyle/>
          <a:p>
            <a:pPr algn="ctr">
              <a:defRPr sz="1200" b="0" i="0">
                <a:solidFill>
                  <a:srgbClr val="6B7280"/>
                </a:solidFill>
                <a:latin typeface="Calibri"/>
              </a:defRPr>
            </a:pPr>
            <a:r>
              <a:t>30+ từ về nội dung</a:t>
            </a:r>
            <a:br/>
            <a:r>
              <a:t>vừa đọc</a:t>
            </a:r>
          </a:p>
        </p:txBody>
      </p:sp>
      <p:sp>
        <p:nvSpPr>
          <p:cNvPr id="25" name="Oval 24"/>
          <p:cNvSpPr/>
          <p:nvPr/>
        </p:nvSpPr>
        <p:spPr>
          <a:xfrm>
            <a:off x="10698480" y="1554480"/>
            <a:ext cx="731520" cy="73152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698480" y="1673352"/>
            <a:ext cx="731520" cy="457200"/>
          </a:xfrm>
          <a:prstGeom prst="rect">
            <a:avLst/>
          </a:prstGeom>
          <a:noFill/>
        </p:spPr>
        <p:txBody>
          <a:bodyPr wrap="square">
            <a:spAutoFit/>
          </a:bodyPr>
          <a:lstStyle/>
          <a:p>
            <a:pPr algn="ctr">
              <a:defRPr sz="2200" b="1" i="0">
                <a:solidFill>
                  <a:srgbClr val="FFFFFF"/>
                </a:solidFill>
                <a:latin typeface="Calibri"/>
              </a:defRPr>
            </a:pPr>
            <a:r>
              <a:t>5</a:t>
            </a:r>
          </a:p>
        </p:txBody>
      </p:sp>
      <p:sp>
        <p:nvSpPr>
          <p:cNvPr id="27" name="TextBox 26"/>
          <p:cNvSpPr txBox="1"/>
          <p:nvPr/>
        </p:nvSpPr>
        <p:spPr>
          <a:xfrm>
            <a:off x="9966960" y="2468880"/>
            <a:ext cx="2194560" cy="365760"/>
          </a:xfrm>
          <a:prstGeom prst="rect">
            <a:avLst/>
          </a:prstGeom>
          <a:noFill/>
        </p:spPr>
        <p:txBody>
          <a:bodyPr wrap="square">
            <a:spAutoFit/>
          </a:bodyPr>
          <a:lstStyle/>
          <a:p>
            <a:pPr algn="ctr">
              <a:defRPr sz="1500" b="1" i="0">
                <a:solidFill>
                  <a:srgbClr val="1E1E1E"/>
                </a:solidFill>
                <a:latin typeface="Calibri"/>
              </a:defRPr>
            </a:pPr>
            <a:r>
              <a:t>Nhận thưởng</a:t>
            </a:r>
          </a:p>
        </p:txBody>
      </p:sp>
      <p:sp>
        <p:nvSpPr>
          <p:cNvPr id="28" name="TextBox 27"/>
          <p:cNvSpPr txBox="1"/>
          <p:nvPr/>
        </p:nvSpPr>
        <p:spPr>
          <a:xfrm>
            <a:off x="10058400" y="2834640"/>
            <a:ext cx="2011680" cy="731520"/>
          </a:xfrm>
          <a:prstGeom prst="rect">
            <a:avLst/>
          </a:prstGeom>
          <a:noFill/>
        </p:spPr>
        <p:txBody>
          <a:bodyPr wrap="square">
            <a:spAutoFit/>
          </a:bodyPr>
          <a:lstStyle/>
          <a:p>
            <a:pPr algn="ctr">
              <a:defRPr sz="1200" b="0" i="0">
                <a:solidFill>
                  <a:srgbClr val="6B7280"/>
                </a:solidFill>
                <a:latin typeface="Calibri"/>
              </a:defRPr>
            </a:pPr>
            <a:r>
              <a:t>XP, cập nhật streak,</a:t>
            </a:r>
            <a:br/>
            <a:r>
              <a:t>kiểm tra badge</a:t>
            </a:r>
          </a:p>
        </p:txBody>
      </p:sp>
      <p:sp>
        <p:nvSpPr>
          <p:cNvPr id="29" name="Rounded Rectangle 28"/>
          <p:cNvSpPr/>
          <p:nvPr/>
        </p:nvSpPr>
        <p:spPr>
          <a:xfrm>
            <a:off x="731520" y="3931920"/>
            <a:ext cx="10698480" cy="228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4114800"/>
            <a:ext cx="4572000" cy="365760"/>
          </a:xfrm>
          <a:prstGeom prst="rect">
            <a:avLst/>
          </a:prstGeom>
          <a:noFill/>
        </p:spPr>
        <p:txBody>
          <a:bodyPr wrap="square">
            <a:spAutoFit/>
          </a:bodyPr>
          <a:lstStyle/>
          <a:p>
            <a:pPr algn="l">
              <a:defRPr sz="1600" b="1" i="0">
                <a:solidFill>
                  <a:srgbClr val="1A3C6E"/>
                </a:solidFill>
                <a:latin typeface="Calibri"/>
              </a:defRPr>
            </a:pPr>
            <a:r>
              <a:t>Điểm đặc biệt:</a:t>
            </a:r>
          </a:p>
        </p:txBody>
      </p:sp>
      <p:sp>
        <p:nvSpPr>
          <p:cNvPr id="31" name="TextBox 30"/>
          <p:cNvSpPr txBox="1"/>
          <p:nvPr/>
        </p:nvSpPr>
        <p:spPr>
          <a:xfrm>
            <a:off x="1188720" y="4572000"/>
            <a:ext cx="10058400" cy="320040"/>
          </a:xfrm>
          <a:prstGeom prst="rect">
            <a:avLst/>
          </a:prstGeom>
          <a:noFill/>
        </p:spPr>
        <p:txBody>
          <a:bodyPr wrap="square">
            <a:spAutoFit/>
          </a:bodyPr>
          <a:lstStyle/>
          <a:p>
            <a:pPr algn="l">
              <a:defRPr sz="1300" b="0" i="0">
                <a:solidFill>
                  <a:srgbClr val="1E1E1E"/>
                </a:solidFill>
                <a:latin typeface="Calibri"/>
              </a:defRPr>
            </a:pPr>
            <a:r>
              <a:t>• Bắt buộc kích hoạt nhiệm vụ trước khi dùng đồng hồ — mỗi phiên đọc có mục tiêu rõ ràng</a:t>
            </a:r>
          </a:p>
        </p:txBody>
      </p:sp>
      <p:sp>
        <p:nvSpPr>
          <p:cNvPr id="32" name="TextBox 31"/>
          <p:cNvSpPr txBox="1"/>
          <p:nvPr/>
        </p:nvSpPr>
        <p:spPr>
          <a:xfrm>
            <a:off x="1188720" y="4937760"/>
            <a:ext cx="10058400" cy="320040"/>
          </a:xfrm>
          <a:prstGeom prst="rect">
            <a:avLst/>
          </a:prstGeom>
          <a:noFill/>
        </p:spPr>
        <p:txBody>
          <a:bodyPr wrap="square">
            <a:spAutoFit/>
          </a:bodyPr>
          <a:lstStyle/>
          <a:p>
            <a:pPr algn="l">
              <a:defRPr sz="1300" b="0" i="0">
                <a:solidFill>
                  <a:srgbClr val="1E1E1E"/>
                </a:solidFill>
                <a:latin typeface="Calibri"/>
              </a:defRPr>
            </a:pPr>
            <a:r>
              <a:t>• Tự động ghi nhận thời gian đọc, cập nhật chuỗi ngày đọc và trao thưởng XP</a:t>
            </a:r>
          </a:p>
        </p:txBody>
      </p:sp>
      <p:sp>
        <p:nvSpPr>
          <p:cNvPr id="33" name="TextBox 32"/>
          <p:cNvSpPr txBox="1"/>
          <p:nvPr/>
        </p:nvSpPr>
        <p:spPr>
          <a:xfrm>
            <a:off x="1188720" y="5303520"/>
            <a:ext cx="10058400" cy="320040"/>
          </a:xfrm>
          <a:prstGeom prst="rect">
            <a:avLst/>
          </a:prstGeom>
          <a:noFill/>
        </p:spPr>
        <p:txBody>
          <a:bodyPr wrap="square">
            <a:spAutoFit/>
          </a:bodyPr>
          <a:lstStyle/>
          <a:p>
            <a:pPr algn="l">
              <a:defRPr sz="1300" b="0" i="0">
                <a:solidFill>
                  <a:srgbClr val="1E1E1E"/>
                </a:solidFill>
                <a:latin typeface="Calibri"/>
              </a:defRPr>
            </a:pPr>
            <a:r>
              <a:t>• Nhật ký đọc giúp ghi nhớ và suy ngẫm về nội dung đã tiếp thu</a:t>
            </a:r>
          </a:p>
        </p:txBody>
      </p:sp>
      <p:sp>
        <p:nvSpPr>
          <p:cNvPr id="34" name="TextBox 33"/>
          <p:cNvSpPr txBox="1"/>
          <p:nvPr/>
        </p:nvSpPr>
        <p:spPr>
          <a:xfrm>
            <a:off x="1188720" y="5669280"/>
            <a:ext cx="10058400" cy="320040"/>
          </a:xfrm>
          <a:prstGeom prst="rect">
            <a:avLst/>
          </a:prstGeom>
          <a:noFill/>
        </p:spPr>
        <p:txBody>
          <a:bodyPr wrap="square">
            <a:spAutoFit/>
          </a:bodyPr>
          <a:lstStyle/>
          <a:p>
            <a:pPr algn="l">
              <a:defRPr sz="1300" b="0" i="0">
                <a:solidFill>
                  <a:srgbClr val="1E1E1E"/>
                </a:solidFill>
                <a:latin typeface="Calibri"/>
              </a:defRPr>
            </a:pPr>
            <a:r>
              <a:t>• Giao diện vòng tròn SVG trực quan, dễ theo dõi tiến trình</a:t>
            </a:r>
          </a:p>
        </p:txBody>
      </p:sp>
      <p:sp>
        <p:nvSpPr>
          <p:cNvPr id="35" name="TextBox 34"/>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14 /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Chuỗi ngày đọc &amp; Bảng xếp hạng</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54480"/>
            <a:ext cx="53035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re.png"/>
          <p:cNvPicPr>
            <a:picLocks noChangeAspect="1"/>
          </p:cNvPicPr>
          <p:nvPr/>
        </p:nvPicPr>
        <p:blipFill>
          <a:blip r:embed="rId2"/>
          <a:stretch>
            <a:fillRect/>
          </a:stretch>
        </p:blipFill>
        <p:spPr>
          <a:xfrm>
            <a:off x="1005840" y="1737360"/>
            <a:ext cx="365760" cy="365760"/>
          </a:xfrm>
          <a:prstGeom prst="rect">
            <a:avLst/>
          </a:prstGeom>
        </p:spPr>
      </p:pic>
      <p:sp>
        <p:nvSpPr>
          <p:cNvPr id="7" name="TextBox 6"/>
          <p:cNvSpPr txBox="1"/>
          <p:nvPr/>
        </p:nvSpPr>
        <p:spPr>
          <a:xfrm>
            <a:off x="1463040" y="1737360"/>
            <a:ext cx="4572000" cy="457200"/>
          </a:xfrm>
          <a:prstGeom prst="rect">
            <a:avLst/>
          </a:prstGeom>
          <a:noFill/>
        </p:spPr>
        <p:txBody>
          <a:bodyPr wrap="square">
            <a:spAutoFit/>
          </a:bodyPr>
          <a:lstStyle/>
          <a:p>
            <a:pPr algn="l">
              <a:defRPr sz="2000" b="1" i="0">
                <a:solidFill>
                  <a:srgbClr val="1A3C6E"/>
                </a:solidFill>
                <a:latin typeface="Calibri"/>
              </a:defRPr>
            </a:pPr>
            <a:r>
              <a:t>Chuỗi ngày đọc (Streak)</a:t>
            </a:r>
          </a:p>
        </p:txBody>
      </p:sp>
      <p:sp>
        <p:nvSpPr>
          <p:cNvPr id="8" name="Rectangle 7"/>
          <p:cNvSpPr/>
          <p:nvPr/>
        </p:nvSpPr>
        <p:spPr>
          <a:xfrm>
            <a:off x="1005840" y="228600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468880"/>
            <a:ext cx="4754880" cy="3200400"/>
          </a:xfrm>
          <a:prstGeom prst="rect">
            <a:avLst/>
          </a:prstGeom>
          <a:noFill/>
        </p:spPr>
        <p:txBody>
          <a:bodyPr wrap="square">
            <a:spAutoFit/>
          </a:bodyPr>
          <a:lstStyle/>
          <a:p>
            <a:pPr algn="l">
              <a:spcAft>
                <a:spcPts val="400"/>
              </a:spcAft>
              <a:defRPr sz="1400" b="0">
                <a:solidFill>
                  <a:srgbClr val="1E1E1E"/>
                </a:solidFill>
                <a:latin typeface="Calibri"/>
              </a:defRPr>
            </a:pPr>
            <a:r>
              <a:t>Ghi nhận mỗi ngày đọc sách</a:t>
            </a:r>
          </a:p>
          <a:p>
            <a:pPr algn="l">
              <a:spcAft>
                <a:spcPts val="400"/>
              </a:spcAft>
              <a:defRPr sz="1400" b="0">
                <a:solidFill>
                  <a:srgbClr val="1E1E1E"/>
                </a:solidFill>
                <a:latin typeface="Calibri"/>
              </a:defRPr>
            </a:pPr>
            <a:r>
              <a:t>Xây dựng chuỗi ngày liên tiếp</a:t>
            </a:r>
          </a:p>
          <a:p>
            <a:pPr algn="l">
              <a:spcAft>
                <a:spcPts val="400"/>
              </a:spcAft>
              <a:defRPr sz="1400" b="0">
                <a:solidFill>
                  <a:srgbClr val="1E1E1E"/>
                </a:solidFill>
                <a:latin typeface="Calibri"/>
              </a:defRPr>
            </a:pPr>
            <a:r>
              <a:t>Giao diện lịch tháng với biểu tượng lửa</a:t>
            </a:r>
          </a:p>
          <a:p>
            <a:pPr algn="l">
              <a:spcAft>
                <a:spcPts val="400"/>
              </a:spcAft>
              <a:defRPr sz="1400" b="0">
                <a:solidFill>
                  <a:srgbClr val="1E1E1E"/>
                </a:solidFill>
                <a:latin typeface="Calibri"/>
              </a:defRPr>
            </a:pPr>
            <a:endParaRPr/>
          </a:p>
          <a:p>
            <a:pPr algn="l">
              <a:spcAft>
                <a:spcPts val="400"/>
              </a:spcAft>
              <a:defRPr sz="1400" b="1">
                <a:solidFill>
                  <a:srgbClr val="1A3C6E"/>
                </a:solidFill>
                <a:latin typeface="Calibri"/>
              </a:defRPr>
            </a:pPr>
            <a:r>
              <a:t>Thống kê chi tiết:</a:t>
            </a:r>
          </a:p>
          <a:p>
            <a:pPr algn="l">
              <a:spcAft>
                <a:spcPts val="400"/>
              </a:spcAft>
              <a:defRPr sz="1400" b="0">
                <a:solidFill>
                  <a:srgbClr val="1E1E1E"/>
                </a:solidFill>
                <a:latin typeface="Calibri"/>
              </a:defRPr>
            </a:pPr>
            <a:r>
              <a:t>  • Tổng thời gian đọc (phút)</a:t>
            </a:r>
          </a:p>
          <a:p>
            <a:pPr algn="l">
              <a:spcAft>
                <a:spcPts val="400"/>
              </a:spcAft>
              <a:defRPr sz="1400" b="0">
                <a:solidFill>
                  <a:srgbClr val="1E1E1E"/>
                </a:solidFill>
                <a:latin typeface="Calibri"/>
              </a:defRPr>
            </a:pPr>
            <a:r>
              <a:t>  • Chuỗi dài nhất (ngày)</a:t>
            </a:r>
          </a:p>
          <a:p>
            <a:pPr algn="l">
              <a:spcAft>
                <a:spcPts val="400"/>
              </a:spcAft>
              <a:defRPr sz="1400" b="0">
                <a:solidFill>
                  <a:srgbClr val="1E1E1E"/>
                </a:solidFill>
                <a:latin typeface="Calibri"/>
              </a:defRPr>
            </a:pPr>
            <a:r>
              <a:t>  • Số sách đã hoàn thành</a:t>
            </a:r>
          </a:p>
          <a:p>
            <a:pPr algn="l">
              <a:spcAft>
                <a:spcPts val="400"/>
              </a:spcAft>
              <a:defRPr sz="1400" b="0">
                <a:solidFill>
                  <a:srgbClr val="1E1E1E"/>
                </a:solidFill>
                <a:latin typeface="Calibri"/>
              </a:defRPr>
            </a:pPr>
            <a:r>
              <a:t>  • Thanh tiến độ milestone</a:t>
            </a:r>
          </a:p>
        </p:txBody>
      </p:sp>
      <p:sp>
        <p:nvSpPr>
          <p:cNvPr id="10" name="Rounded Rectangle 9"/>
          <p:cNvSpPr/>
          <p:nvPr/>
        </p:nvSpPr>
        <p:spPr>
          <a:xfrm>
            <a:off x="6400800" y="1554480"/>
            <a:ext cx="5029200" cy="47548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rophy.png"/>
          <p:cNvPicPr>
            <a:picLocks noChangeAspect="1"/>
          </p:cNvPicPr>
          <p:nvPr/>
        </p:nvPicPr>
        <p:blipFill>
          <a:blip r:embed="rId3"/>
          <a:stretch>
            <a:fillRect/>
          </a:stretch>
        </p:blipFill>
        <p:spPr>
          <a:xfrm>
            <a:off x="6675120" y="1737360"/>
            <a:ext cx="365760" cy="365760"/>
          </a:xfrm>
          <a:prstGeom prst="rect">
            <a:avLst/>
          </a:prstGeom>
        </p:spPr>
      </p:pic>
      <p:sp>
        <p:nvSpPr>
          <p:cNvPr id="12" name="TextBox 11"/>
          <p:cNvSpPr txBox="1"/>
          <p:nvPr/>
        </p:nvSpPr>
        <p:spPr>
          <a:xfrm>
            <a:off x="7132320" y="1737360"/>
            <a:ext cx="4572000" cy="457200"/>
          </a:xfrm>
          <a:prstGeom prst="rect">
            <a:avLst/>
          </a:prstGeom>
          <a:noFill/>
        </p:spPr>
        <p:txBody>
          <a:bodyPr wrap="square">
            <a:spAutoFit/>
          </a:bodyPr>
          <a:lstStyle/>
          <a:p>
            <a:pPr algn="l">
              <a:defRPr sz="2000" b="1" i="0">
                <a:solidFill>
                  <a:srgbClr val="FFFFFF"/>
                </a:solidFill>
                <a:latin typeface="Calibri"/>
              </a:defRPr>
            </a:pPr>
            <a:r>
              <a:t>Bảng xếp hạng (Leaderboard)</a:t>
            </a:r>
          </a:p>
        </p:txBody>
      </p:sp>
      <p:sp>
        <p:nvSpPr>
          <p:cNvPr id="13" name="Rectangle 12"/>
          <p:cNvSpPr/>
          <p:nvPr/>
        </p:nvSpPr>
        <p:spPr>
          <a:xfrm>
            <a:off x="6675120" y="2286000"/>
            <a:ext cx="137160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2468880"/>
            <a:ext cx="4572000" cy="3200400"/>
          </a:xfrm>
          <a:prstGeom prst="rect">
            <a:avLst/>
          </a:prstGeom>
          <a:noFill/>
        </p:spPr>
        <p:txBody>
          <a:bodyPr wrap="square">
            <a:spAutoFit/>
          </a:bodyPr>
          <a:lstStyle/>
          <a:p>
            <a:pPr algn="l">
              <a:spcAft>
                <a:spcPts val="400"/>
              </a:spcAft>
              <a:defRPr sz="1400" b="0">
                <a:solidFill>
                  <a:srgbClr val="CCD5E0"/>
                </a:solidFill>
                <a:latin typeface="Calibri"/>
              </a:defRPr>
            </a:pPr>
            <a:r>
              <a:t>Top 50 người dùng xuất sắc nhất</a:t>
            </a:r>
          </a:p>
          <a:p>
            <a:pPr algn="l">
              <a:spcAft>
                <a:spcPts val="400"/>
              </a:spcAft>
              <a:defRPr sz="1400" b="0">
                <a:solidFill>
                  <a:srgbClr val="1E1E1E"/>
                </a:solidFill>
                <a:latin typeface="Calibri"/>
              </a:defRPr>
            </a:pPr>
            <a:endParaRPr/>
          </a:p>
          <a:p>
            <a:pPr algn="l">
              <a:spcAft>
                <a:spcPts val="400"/>
              </a:spcAft>
              <a:defRPr sz="1400" b="1">
                <a:solidFill>
                  <a:srgbClr val="FFFFFF"/>
                </a:solidFill>
                <a:latin typeface="Calibri"/>
              </a:defRPr>
            </a:pPr>
            <a:r>
              <a:t>Xếp hạng dựa trên:</a:t>
            </a:r>
          </a:p>
          <a:p>
            <a:pPr algn="l">
              <a:spcAft>
                <a:spcPts val="400"/>
              </a:spcAft>
              <a:defRPr sz="1400" b="0">
                <a:solidFill>
                  <a:srgbClr val="CCD5E0"/>
                </a:solidFill>
                <a:latin typeface="Calibri"/>
              </a:defRPr>
            </a:pPr>
            <a:r>
              <a:t>  • Chuỗi ngày đọc (Streak)</a:t>
            </a:r>
          </a:p>
          <a:p>
            <a:pPr algn="l">
              <a:spcAft>
                <a:spcPts val="400"/>
              </a:spcAft>
              <a:defRPr sz="1400" b="0">
                <a:solidFill>
                  <a:srgbClr val="CCD5E0"/>
                </a:solidFill>
                <a:latin typeface="Calibri"/>
              </a:defRPr>
            </a:pPr>
            <a:r>
              <a:t>  • Tổng thời gian đọc (phút)</a:t>
            </a:r>
          </a:p>
          <a:p>
            <a:pPr algn="l">
              <a:spcAft>
                <a:spcPts val="400"/>
              </a:spcAft>
              <a:defRPr sz="1400" b="0">
                <a:solidFill>
                  <a:srgbClr val="1E1E1E"/>
                </a:solidFill>
                <a:latin typeface="Calibri"/>
              </a:defRPr>
            </a:pPr>
            <a:endParaRPr/>
          </a:p>
          <a:p>
            <a:pPr algn="l">
              <a:spcAft>
                <a:spcPts val="400"/>
              </a:spcAft>
              <a:defRPr sz="1400" b="1">
                <a:solidFill>
                  <a:srgbClr val="FFFFFF"/>
                </a:solidFill>
                <a:latin typeface="Calibri"/>
              </a:defRPr>
            </a:pPr>
            <a:r>
              <a:t>Vinh danh Top 3:</a:t>
            </a:r>
          </a:p>
          <a:p>
            <a:pPr algn="l">
              <a:spcAft>
                <a:spcPts val="400"/>
              </a:spcAft>
              <a:defRPr sz="1400" b="0">
                <a:solidFill>
                  <a:srgbClr val="CCD5E0"/>
                </a:solidFill>
                <a:latin typeface="Calibri"/>
              </a:defRPr>
            </a:pPr>
            <a:r>
              <a:t>  Huy chương Vàng</a:t>
            </a:r>
          </a:p>
          <a:p>
            <a:pPr algn="l">
              <a:spcAft>
                <a:spcPts val="400"/>
              </a:spcAft>
              <a:defRPr sz="1400" b="0">
                <a:solidFill>
                  <a:srgbClr val="CCD5E0"/>
                </a:solidFill>
                <a:latin typeface="Calibri"/>
              </a:defRPr>
            </a:pPr>
            <a:r>
              <a:t>  Huy chương Bạc</a:t>
            </a:r>
          </a:p>
          <a:p>
            <a:pPr algn="l">
              <a:spcAft>
                <a:spcPts val="400"/>
              </a:spcAft>
              <a:defRPr sz="1400" b="0">
                <a:solidFill>
                  <a:srgbClr val="CCD5E0"/>
                </a:solidFill>
                <a:latin typeface="Calibri"/>
              </a:defRPr>
            </a:pPr>
            <a:r>
              <a:t>  Huy chương Đồng</a:t>
            </a:r>
          </a:p>
        </p:txBody>
      </p:sp>
      <p:sp>
        <p:nvSpPr>
          <p:cNvPr id="15" name="TextBox 14"/>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15 / 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Thư viện sách trực tuyến</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19" y="1554480"/>
            <a:ext cx="11069711"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365760"/>
          </a:xfrm>
          <a:prstGeom prst="rect">
            <a:avLst/>
          </a:prstGeom>
          <a:noFill/>
        </p:spPr>
        <p:txBody>
          <a:bodyPr wrap="square">
            <a:spAutoFit/>
          </a:bodyPr>
          <a:lstStyle/>
          <a:p>
            <a:pPr algn="l">
              <a:defRPr sz="1800" b="1" i="0">
                <a:solidFill>
                  <a:srgbClr val="1A3C6E"/>
                </a:solidFill>
                <a:latin typeface="Calibri"/>
              </a:defRPr>
            </a:pPr>
            <a:r>
              <a:t>11 thể loại — Hơn 100 đầu sách</a:t>
            </a:r>
          </a:p>
        </p:txBody>
      </p:sp>
      <p:sp>
        <p:nvSpPr>
          <p:cNvPr id="7" name="Rounded Rectangle 6"/>
          <p:cNvSpPr/>
          <p:nvPr/>
        </p:nvSpPr>
        <p:spPr>
          <a:xfrm>
            <a:off x="914400"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331720"/>
            <a:ext cx="868680" cy="640080"/>
          </a:xfrm>
          <a:prstGeom prst="rect">
            <a:avLst/>
          </a:prstGeom>
          <a:noFill/>
        </p:spPr>
        <p:txBody>
          <a:bodyPr wrap="square">
            <a:spAutoFit/>
          </a:bodyPr>
          <a:lstStyle/>
          <a:p>
            <a:pPr algn="ctr">
              <a:defRPr sz="900" b="1" i="0">
                <a:solidFill>
                  <a:srgbClr val="FFFFFF"/>
                </a:solidFill>
                <a:latin typeface="Calibri"/>
              </a:defRPr>
            </a:pPr>
            <a:r>
              <a:t>Văn học</a:t>
            </a:r>
          </a:p>
        </p:txBody>
      </p:sp>
      <p:sp>
        <p:nvSpPr>
          <p:cNvPr id="9" name="Rounded Rectangle 8"/>
          <p:cNvSpPr/>
          <p:nvPr/>
        </p:nvSpPr>
        <p:spPr>
          <a:xfrm>
            <a:off x="1892808" y="2286000"/>
            <a:ext cx="868680" cy="73152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92808" y="2331720"/>
            <a:ext cx="868680" cy="640080"/>
          </a:xfrm>
          <a:prstGeom prst="rect">
            <a:avLst/>
          </a:prstGeom>
          <a:noFill/>
        </p:spPr>
        <p:txBody>
          <a:bodyPr wrap="square">
            <a:spAutoFit/>
          </a:bodyPr>
          <a:lstStyle/>
          <a:p>
            <a:pPr algn="ctr">
              <a:defRPr sz="900" b="1" i="0">
                <a:solidFill>
                  <a:srgbClr val="FFFFFF"/>
                </a:solidFill>
                <a:latin typeface="Calibri"/>
              </a:defRPr>
            </a:pPr>
            <a:r>
              <a:t>Kinh tế</a:t>
            </a:r>
          </a:p>
        </p:txBody>
      </p:sp>
      <p:sp>
        <p:nvSpPr>
          <p:cNvPr id="11" name="Rounded Rectangle 10"/>
          <p:cNvSpPr/>
          <p:nvPr/>
        </p:nvSpPr>
        <p:spPr>
          <a:xfrm>
            <a:off x="2871216"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71216" y="2331720"/>
            <a:ext cx="868680" cy="640080"/>
          </a:xfrm>
          <a:prstGeom prst="rect">
            <a:avLst/>
          </a:prstGeom>
          <a:noFill/>
        </p:spPr>
        <p:txBody>
          <a:bodyPr wrap="square">
            <a:spAutoFit/>
          </a:bodyPr>
          <a:lstStyle/>
          <a:p>
            <a:pPr algn="ctr">
              <a:defRPr sz="900" b="1" i="0">
                <a:solidFill>
                  <a:srgbClr val="FFFFFF"/>
                </a:solidFill>
                <a:latin typeface="Calibri"/>
              </a:defRPr>
            </a:pPr>
            <a:r>
              <a:t>Phát triển</a:t>
            </a:r>
            <a:br/>
            <a:r>
              <a:t>bản thân</a:t>
            </a:r>
          </a:p>
        </p:txBody>
      </p:sp>
      <p:sp>
        <p:nvSpPr>
          <p:cNvPr id="13" name="Rounded Rectangle 12"/>
          <p:cNvSpPr/>
          <p:nvPr/>
        </p:nvSpPr>
        <p:spPr>
          <a:xfrm>
            <a:off x="3849624" y="2286000"/>
            <a:ext cx="868680" cy="73152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9624" y="2331720"/>
            <a:ext cx="868680" cy="640080"/>
          </a:xfrm>
          <a:prstGeom prst="rect">
            <a:avLst/>
          </a:prstGeom>
          <a:noFill/>
        </p:spPr>
        <p:txBody>
          <a:bodyPr wrap="square">
            <a:spAutoFit/>
          </a:bodyPr>
          <a:lstStyle/>
          <a:p>
            <a:pPr algn="ctr">
              <a:defRPr sz="900" b="1" i="0">
                <a:solidFill>
                  <a:srgbClr val="FFFFFF"/>
                </a:solidFill>
                <a:latin typeface="Calibri"/>
              </a:defRPr>
            </a:pPr>
            <a:r>
              <a:t>Khoa học</a:t>
            </a:r>
          </a:p>
        </p:txBody>
      </p:sp>
      <p:sp>
        <p:nvSpPr>
          <p:cNvPr id="15" name="Rounded Rectangle 14"/>
          <p:cNvSpPr/>
          <p:nvPr/>
        </p:nvSpPr>
        <p:spPr>
          <a:xfrm>
            <a:off x="4828032"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28032" y="2331720"/>
            <a:ext cx="868680" cy="640080"/>
          </a:xfrm>
          <a:prstGeom prst="rect">
            <a:avLst/>
          </a:prstGeom>
          <a:noFill/>
        </p:spPr>
        <p:txBody>
          <a:bodyPr wrap="square">
            <a:spAutoFit/>
          </a:bodyPr>
          <a:lstStyle/>
          <a:p>
            <a:pPr algn="ctr">
              <a:defRPr sz="900" b="1" i="0">
                <a:solidFill>
                  <a:srgbClr val="FFFFFF"/>
                </a:solidFill>
                <a:latin typeface="Calibri"/>
              </a:defRPr>
            </a:pPr>
            <a:r>
              <a:t>Công nghệ</a:t>
            </a:r>
          </a:p>
        </p:txBody>
      </p:sp>
      <p:sp>
        <p:nvSpPr>
          <p:cNvPr id="17" name="Rounded Rectangle 16"/>
          <p:cNvSpPr/>
          <p:nvPr/>
        </p:nvSpPr>
        <p:spPr>
          <a:xfrm>
            <a:off x="5806440" y="2286000"/>
            <a:ext cx="868680" cy="73152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06440" y="2331720"/>
            <a:ext cx="868680" cy="640080"/>
          </a:xfrm>
          <a:prstGeom prst="rect">
            <a:avLst/>
          </a:prstGeom>
          <a:noFill/>
        </p:spPr>
        <p:txBody>
          <a:bodyPr wrap="square">
            <a:spAutoFit/>
          </a:bodyPr>
          <a:lstStyle/>
          <a:p>
            <a:pPr algn="ctr">
              <a:defRPr sz="900" b="1" i="0">
                <a:solidFill>
                  <a:srgbClr val="FFFFFF"/>
                </a:solidFill>
                <a:latin typeface="Calibri"/>
              </a:defRPr>
            </a:pPr>
            <a:r>
              <a:t>Marketing</a:t>
            </a:r>
          </a:p>
        </p:txBody>
      </p:sp>
      <p:sp>
        <p:nvSpPr>
          <p:cNvPr id="19" name="Rounded Rectangle 18"/>
          <p:cNvSpPr/>
          <p:nvPr/>
        </p:nvSpPr>
        <p:spPr>
          <a:xfrm>
            <a:off x="6784848"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331720"/>
            <a:ext cx="868680" cy="640080"/>
          </a:xfrm>
          <a:prstGeom prst="rect">
            <a:avLst/>
          </a:prstGeom>
          <a:noFill/>
        </p:spPr>
        <p:txBody>
          <a:bodyPr wrap="square">
            <a:spAutoFit/>
          </a:bodyPr>
          <a:lstStyle/>
          <a:p>
            <a:pPr algn="ctr">
              <a:defRPr sz="900" b="1" i="0">
                <a:solidFill>
                  <a:srgbClr val="FFFFFF"/>
                </a:solidFill>
                <a:latin typeface="Calibri"/>
              </a:defRPr>
            </a:pPr>
            <a:r>
              <a:t>Ngôn ngữ</a:t>
            </a:r>
          </a:p>
        </p:txBody>
      </p:sp>
      <p:sp>
        <p:nvSpPr>
          <p:cNvPr id="21" name="Rounded Rectangle 20"/>
          <p:cNvSpPr/>
          <p:nvPr/>
        </p:nvSpPr>
        <p:spPr>
          <a:xfrm>
            <a:off x="7763256" y="2286000"/>
            <a:ext cx="868680" cy="73152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63256" y="2331720"/>
            <a:ext cx="868680" cy="640080"/>
          </a:xfrm>
          <a:prstGeom prst="rect">
            <a:avLst/>
          </a:prstGeom>
          <a:noFill/>
        </p:spPr>
        <p:txBody>
          <a:bodyPr wrap="square">
            <a:spAutoFit/>
          </a:bodyPr>
          <a:lstStyle/>
          <a:p>
            <a:pPr algn="ctr">
              <a:defRPr sz="900" b="1" i="0">
                <a:solidFill>
                  <a:srgbClr val="FFFFFF"/>
                </a:solidFill>
                <a:latin typeface="Calibri"/>
              </a:defRPr>
            </a:pPr>
            <a:r>
              <a:t>Nghệ thuật</a:t>
            </a:r>
          </a:p>
        </p:txBody>
      </p:sp>
      <p:sp>
        <p:nvSpPr>
          <p:cNvPr id="23" name="Rounded Rectangle 22"/>
          <p:cNvSpPr/>
          <p:nvPr/>
        </p:nvSpPr>
        <p:spPr>
          <a:xfrm>
            <a:off x="8741664"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41664" y="2331720"/>
            <a:ext cx="868680" cy="640080"/>
          </a:xfrm>
          <a:prstGeom prst="rect">
            <a:avLst/>
          </a:prstGeom>
          <a:noFill/>
        </p:spPr>
        <p:txBody>
          <a:bodyPr wrap="square">
            <a:spAutoFit/>
          </a:bodyPr>
          <a:lstStyle/>
          <a:p>
            <a:pPr algn="ctr">
              <a:defRPr sz="900" b="1" i="0">
                <a:solidFill>
                  <a:srgbClr val="FFFFFF"/>
                </a:solidFill>
                <a:latin typeface="Calibri"/>
              </a:defRPr>
            </a:pPr>
            <a:r>
              <a:t>Truyện</a:t>
            </a:r>
            <a:br/>
            <a:r>
              <a:t>tranh</a:t>
            </a:r>
          </a:p>
        </p:txBody>
      </p:sp>
      <p:sp>
        <p:nvSpPr>
          <p:cNvPr id="25" name="Rounded Rectangle 24"/>
          <p:cNvSpPr/>
          <p:nvPr/>
        </p:nvSpPr>
        <p:spPr>
          <a:xfrm>
            <a:off x="9720072" y="2286000"/>
            <a:ext cx="868680" cy="731520"/>
          </a:xfrm>
          <a:prstGeom prst="round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20072" y="2331720"/>
            <a:ext cx="868680" cy="640080"/>
          </a:xfrm>
          <a:prstGeom prst="rect">
            <a:avLst/>
          </a:prstGeom>
          <a:noFill/>
        </p:spPr>
        <p:txBody>
          <a:bodyPr wrap="square">
            <a:spAutoFit/>
          </a:bodyPr>
          <a:lstStyle/>
          <a:p>
            <a:pPr algn="ctr">
              <a:defRPr sz="900" b="1" i="0">
                <a:solidFill>
                  <a:srgbClr val="FFFFFF"/>
                </a:solidFill>
                <a:latin typeface="Calibri"/>
              </a:defRPr>
            </a:pPr>
            <a:r>
              <a:t>Hồi ký</a:t>
            </a:r>
          </a:p>
        </p:txBody>
      </p:sp>
      <p:sp>
        <p:nvSpPr>
          <p:cNvPr id="27" name="Rounded Rectangle 26"/>
          <p:cNvSpPr/>
          <p:nvPr/>
        </p:nvSpPr>
        <p:spPr>
          <a:xfrm>
            <a:off x="10698480" y="2286000"/>
            <a:ext cx="868680" cy="7315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698480" y="2331720"/>
            <a:ext cx="868680" cy="640080"/>
          </a:xfrm>
          <a:prstGeom prst="rect">
            <a:avLst/>
          </a:prstGeom>
          <a:noFill/>
        </p:spPr>
        <p:txBody>
          <a:bodyPr wrap="square">
            <a:spAutoFit/>
          </a:bodyPr>
          <a:lstStyle/>
          <a:p>
            <a:pPr algn="ctr">
              <a:defRPr sz="900" b="1" i="0">
                <a:solidFill>
                  <a:srgbClr val="FFFFFF"/>
                </a:solidFill>
                <a:latin typeface="Calibri"/>
              </a:defRPr>
            </a:pPr>
            <a:r>
              <a:t>Khác</a:t>
            </a:r>
          </a:p>
        </p:txBody>
      </p:sp>
      <p:sp>
        <p:nvSpPr>
          <p:cNvPr id="29" name="Rounded Rectangle 28"/>
          <p:cNvSpPr/>
          <p:nvPr/>
        </p:nvSpPr>
        <p:spPr>
          <a:xfrm>
            <a:off x="731520" y="3840480"/>
            <a:ext cx="2651760" cy="237744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earch.png"/>
          <p:cNvPicPr>
            <a:picLocks noChangeAspect="1"/>
          </p:cNvPicPr>
          <p:nvPr/>
        </p:nvPicPr>
        <p:blipFill>
          <a:blip r:embed="rId2"/>
          <a:stretch>
            <a:fillRect/>
          </a:stretch>
        </p:blipFill>
        <p:spPr>
          <a:xfrm>
            <a:off x="1851660" y="3977640"/>
            <a:ext cx="411480" cy="411480"/>
          </a:xfrm>
          <a:prstGeom prst="rect">
            <a:avLst/>
          </a:prstGeom>
        </p:spPr>
      </p:pic>
      <p:sp>
        <p:nvSpPr>
          <p:cNvPr id="31" name="TextBox 30"/>
          <p:cNvSpPr txBox="1"/>
          <p:nvPr/>
        </p:nvSpPr>
        <p:spPr>
          <a:xfrm>
            <a:off x="822960" y="4480560"/>
            <a:ext cx="2468880" cy="548640"/>
          </a:xfrm>
          <a:prstGeom prst="rect">
            <a:avLst/>
          </a:prstGeom>
          <a:noFill/>
        </p:spPr>
        <p:txBody>
          <a:bodyPr wrap="square">
            <a:spAutoFit/>
          </a:bodyPr>
          <a:lstStyle/>
          <a:p>
            <a:pPr algn="ctr">
              <a:defRPr sz="1400" b="1" i="0">
                <a:solidFill>
                  <a:srgbClr val="1A3C6E"/>
                </a:solidFill>
                <a:latin typeface="Calibri"/>
              </a:defRPr>
            </a:pPr>
            <a:r>
              <a:t>Tìm kiếm sách</a:t>
            </a:r>
            <a:br/>
            <a:r>
              <a:t>theo tên</a:t>
            </a:r>
          </a:p>
        </p:txBody>
      </p:sp>
      <p:sp>
        <p:nvSpPr>
          <p:cNvPr id="32" name="Rectangle 31"/>
          <p:cNvSpPr/>
          <p:nvPr/>
        </p:nvSpPr>
        <p:spPr>
          <a:xfrm>
            <a:off x="1394460" y="502920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5166360"/>
            <a:ext cx="2468880" cy="960120"/>
          </a:xfrm>
          <a:prstGeom prst="rect">
            <a:avLst/>
          </a:prstGeom>
          <a:noFill/>
        </p:spPr>
        <p:txBody>
          <a:bodyPr wrap="square">
            <a:spAutoFit/>
          </a:bodyPr>
          <a:lstStyle/>
          <a:p>
            <a:pPr algn="ctr">
              <a:defRPr sz="1200" b="0" i="0">
                <a:solidFill>
                  <a:srgbClr val="6B7280"/>
                </a:solidFill>
                <a:latin typeface="Calibri"/>
              </a:defRPr>
            </a:pPr>
            <a:r>
              <a:t>Nhanh chóng, chính xác</a:t>
            </a:r>
          </a:p>
        </p:txBody>
      </p:sp>
      <p:sp>
        <p:nvSpPr>
          <p:cNvPr id="34" name="Rectangle 33"/>
          <p:cNvSpPr/>
          <p:nvPr/>
        </p:nvSpPr>
        <p:spPr>
          <a:xfrm>
            <a:off x="1280160" y="4983480"/>
            <a:ext cx="1554480" cy="18288"/>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3840480"/>
            <a:ext cx="2651760" cy="237744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filter.png"/>
          <p:cNvPicPr>
            <a:picLocks noChangeAspect="1"/>
          </p:cNvPicPr>
          <p:nvPr/>
        </p:nvPicPr>
        <p:blipFill>
          <a:blip r:embed="rId3"/>
          <a:stretch>
            <a:fillRect/>
          </a:stretch>
        </p:blipFill>
        <p:spPr>
          <a:xfrm>
            <a:off x="4777740" y="3977640"/>
            <a:ext cx="411480" cy="411480"/>
          </a:xfrm>
          <a:prstGeom prst="rect">
            <a:avLst/>
          </a:prstGeom>
        </p:spPr>
      </p:pic>
      <p:sp>
        <p:nvSpPr>
          <p:cNvPr id="37" name="TextBox 36"/>
          <p:cNvSpPr txBox="1"/>
          <p:nvPr/>
        </p:nvSpPr>
        <p:spPr>
          <a:xfrm>
            <a:off x="3749040" y="4480560"/>
            <a:ext cx="2468880" cy="548640"/>
          </a:xfrm>
          <a:prstGeom prst="rect">
            <a:avLst/>
          </a:prstGeom>
          <a:noFill/>
        </p:spPr>
        <p:txBody>
          <a:bodyPr wrap="square">
            <a:spAutoFit/>
          </a:bodyPr>
          <a:lstStyle/>
          <a:p>
            <a:pPr algn="ctr">
              <a:defRPr sz="1400" b="1" i="0">
                <a:solidFill>
                  <a:srgbClr val="1A3C6E"/>
                </a:solidFill>
                <a:latin typeface="Calibri"/>
              </a:defRPr>
            </a:pPr>
            <a:r>
              <a:t>Lọc theo</a:t>
            </a:r>
            <a:br/>
            <a:r>
              <a:t>thể loại</a:t>
            </a:r>
          </a:p>
        </p:txBody>
      </p:sp>
      <p:sp>
        <p:nvSpPr>
          <p:cNvPr id="38" name="Rectangle 37"/>
          <p:cNvSpPr/>
          <p:nvPr/>
        </p:nvSpPr>
        <p:spPr>
          <a:xfrm>
            <a:off x="4320540" y="502920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49040" y="5166360"/>
            <a:ext cx="2468880" cy="960120"/>
          </a:xfrm>
          <a:prstGeom prst="rect">
            <a:avLst/>
          </a:prstGeom>
          <a:noFill/>
        </p:spPr>
        <p:txBody>
          <a:bodyPr wrap="square">
            <a:spAutoFit/>
          </a:bodyPr>
          <a:lstStyle/>
          <a:p>
            <a:pPr algn="ctr">
              <a:defRPr sz="1200" b="0" i="0">
                <a:solidFill>
                  <a:srgbClr val="6B7280"/>
                </a:solidFill>
                <a:latin typeface="Calibri"/>
              </a:defRPr>
            </a:pPr>
            <a:r>
              <a:t>Dễ dàng khám phá</a:t>
            </a:r>
          </a:p>
        </p:txBody>
      </p:sp>
      <p:sp>
        <p:nvSpPr>
          <p:cNvPr id="40" name="Rectangle 39"/>
          <p:cNvSpPr/>
          <p:nvPr/>
        </p:nvSpPr>
        <p:spPr>
          <a:xfrm>
            <a:off x="4206240" y="4983480"/>
            <a:ext cx="1554480" cy="18288"/>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583680" y="3840480"/>
            <a:ext cx="2651760" cy="237744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book.png"/>
          <p:cNvPicPr>
            <a:picLocks noChangeAspect="1"/>
          </p:cNvPicPr>
          <p:nvPr/>
        </p:nvPicPr>
        <p:blipFill>
          <a:blip r:embed="rId4"/>
          <a:stretch>
            <a:fillRect/>
          </a:stretch>
        </p:blipFill>
        <p:spPr>
          <a:xfrm>
            <a:off x="7703820" y="3977640"/>
            <a:ext cx="411480" cy="411480"/>
          </a:xfrm>
          <a:prstGeom prst="rect">
            <a:avLst/>
          </a:prstGeom>
        </p:spPr>
      </p:pic>
      <p:sp>
        <p:nvSpPr>
          <p:cNvPr id="43" name="TextBox 42"/>
          <p:cNvSpPr txBox="1"/>
          <p:nvPr/>
        </p:nvSpPr>
        <p:spPr>
          <a:xfrm>
            <a:off x="6675120" y="4480560"/>
            <a:ext cx="2468880" cy="548640"/>
          </a:xfrm>
          <a:prstGeom prst="rect">
            <a:avLst/>
          </a:prstGeom>
          <a:noFill/>
        </p:spPr>
        <p:txBody>
          <a:bodyPr wrap="square">
            <a:spAutoFit/>
          </a:bodyPr>
          <a:lstStyle/>
          <a:p>
            <a:pPr algn="ctr">
              <a:defRPr sz="1400" b="1" i="0">
                <a:solidFill>
                  <a:srgbClr val="1A3C6E"/>
                </a:solidFill>
                <a:latin typeface="Calibri"/>
              </a:defRPr>
            </a:pPr>
            <a:r>
              <a:t>Xem chi tiết</a:t>
            </a:r>
            <a:br/>
            <a:r>
              <a:t>nội dung</a:t>
            </a:r>
          </a:p>
        </p:txBody>
      </p:sp>
      <p:sp>
        <p:nvSpPr>
          <p:cNvPr id="44" name="Rectangle 43"/>
          <p:cNvSpPr/>
          <p:nvPr/>
        </p:nvSpPr>
        <p:spPr>
          <a:xfrm>
            <a:off x="7246620" y="502920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75120" y="5166360"/>
            <a:ext cx="2468880" cy="960120"/>
          </a:xfrm>
          <a:prstGeom prst="rect">
            <a:avLst/>
          </a:prstGeom>
          <a:noFill/>
        </p:spPr>
        <p:txBody>
          <a:bodyPr wrap="square">
            <a:spAutoFit/>
          </a:bodyPr>
          <a:lstStyle/>
          <a:p>
            <a:pPr algn="ctr">
              <a:defRPr sz="1200" b="0" i="0">
                <a:solidFill>
                  <a:srgbClr val="6B7280"/>
                </a:solidFill>
                <a:latin typeface="Calibri"/>
              </a:defRPr>
            </a:pPr>
            <a:r>
              <a:t>Đọc trực tiếp trên nền tảng</a:t>
            </a:r>
          </a:p>
        </p:txBody>
      </p:sp>
      <p:sp>
        <p:nvSpPr>
          <p:cNvPr id="46" name="Rectangle 45"/>
          <p:cNvSpPr/>
          <p:nvPr/>
        </p:nvSpPr>
        <p:spPr>
          <a:xfrm>
            <a:off x="7132320" y="4983480"/>
            <a:ext cx="1554480" cy="18288"/>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9509760" y="3840480"/>
            <a:ext cx="2651760" cy="237744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chat.png"/>
          <p:cNvPicPr>
            <a:picLocks noChangeAspect="1"/>
          </p:cNvPicPr>
          <p:nvPr/>
        </p:nvPicPr>
        <p:blipFill>
          <a:blip r:embed="rId5"/>
          <a:stretch>
            <a:fillRect/>
          </a:stretch>
        </p:blipFill>
        <p:spPr>
          <a:xfrm>
            <a:off x="10629900" y="3977640"/>
            <a:ext cx="411480" cy="411480"/>
          </a:xfrm>
          <a:prstGeom prst="rect">
            <a:avLst/>
          </a:prstGeom>
        </p:spPr>
      </p:pic>
      <p:sp>
        <p:nvSpPr>
          <p:cNvPr id="49" name="TextBox 48"/>
          <p:cNvSpPr txBox="1"/>
          <p:nvPr/>
        </p:nvSpPr>
        <p:spPr>
          <a:xfrm>
            <a:off x="9601200" y="4480560"/>
            <a:ext cx="2468880" cy="548640"/>
          </a:xfrm>
          <a:prstGeom prst="rect">
            <a:avLst/>
          </a:prstGeom>
          <a:noFill/>
        </p:spPr>
        <p:txBody>
          <a:bodyPr wrap="square">
            <a:spAutoFit/>
          </a:bodyPr>
          <a:lstStyle/>
          <a:p>
            <a:pPr algn="ctr">
              <a:defRPr sz="1400" b="1" i="0">
                <a:solidFill>
                  <a:srgbClr val="1A3C6E"/>
                </a:solidFill>
                <a:latin typeface="Calibri"/>
              </a:defRPr>
            </a:pPr>
            <a:r>
              <a:t>Bình luận</a:t>
            </a:r>
            <a:br/>
            <a:r>
              <a:t>và thảo luận</a:t>
            </a:r>
          </a:p>
        </p:txBody>
      </p:sp>
      <p:sp>
        <p:nvSpPr>
          <p:cNvPr id="50" name="Rectangle 49"/>
          <p:cNvSpPr/>
          <p:nvPr/>
        </p:nvSpPr>
        <p:spPr>
          <a:xfrm>
            <a:off x="10172700" y="5029200"/>
            <a:ext cx="132588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0" y="5166360"/>
            <a:ext cx="2468880" cy="960120"/>
          </a:xfrm>
          <a:prstGeom prst="rect">
            <a:avLst/>
          </a:prstGeom>
          <a:noFill/>
        </p:spPr>
        <p:txBody>
          <a:bodyPr wrap="square">
            <a:spAutoFit/>
          </a:bodyPr>
          <a:lstStyle/>
          <a:p>
            <a:pPr algn="ctr">
              <a:defRPr sz="1200" b="0" i="0">
                <a:solidFill>
                  <a:srgbClr val="6B7280"/>
                </a:solidFill>
                <a:latin typeface="Calibri"/>
              </a:defRPr>
            </a:pPr>
            <a:r>
              <a:t>Kết nối cộng đồng</a:t>
            </a:r>
          </a:p>
        </p:txBody>
      </p:sp>
      <p:sp>
        <p:nvSpPr>
          <p:cNvPr id="52" name="Rectangle 51"/>
          <p:cNvSpPr/>
          <p:nvPr/>
        </p:nvSpPr>
        <p:spPr>
          <a:xfrm>
            <a:off x="10058400" y="4983480"/>
            <a:ext cx="1554480" cy="18288"/>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16 /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731520"/>
          </a:xfrm>
          <a:prstGeom prst="rect">
            <a:avLst/>
          </a:prstGeom>
          <a:noFill/>
        </p:spPr>
        <p:txBody>
          <a:bodyPr wrap="square">
            <a:spAutoFit/>
          </a:bodyPr>
          <a:lstStyle/>
          <a:p>
            <a:pPr algn="l">
              <a:defRPr sz="7200" b="1" i="0">
                <a:solidFill>
                  <a:srgbClr val="FFFFFF"/>
                </a:solidFill>
                <a:latin typeface="Calibri"/>
              </a:defRPr>
            </a:pPr>
            <a:r>
              <a:t>04</a:t>
            </a:r>
          </a:p>
        </p:txBody>
      </p:sp>
      <p:sp>
        <p:nvSpPr>
          <p:cNvPr id="4" name="Rectangle 3"/>
          <p:cNvSpPr/>
          <p:nvPr/>
        </p:nvSpPr>
        <p:spPr>
          <a:xfrm>
            <a:off x="914400" y="2926080"/>
            <a:ext cx="22860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291840"/>
            <a:ext cx="10058400" cy="1097280"/>
          </a:xfrm>
          <a:prstGeom prst="rect">
            <a:avLst/>
          </a:prstGeom>
          <a:noFill/>
        </p:spPr>
        <p:txBody>
          <a:bodyPr wrap="square">
            <a:spAutoFit/>
          </a:bodyPr>
          <a:lstStyle/>
          <a:p>
            <a:pPr algn="l">
              <a:defRPr sz="3600" b="1" i="0">
                <a:solidFill>
                  <a:srgbClr val="FFFFFF"/>
                </a:solidFill>
                <a:latin typeface="Calibri"/>
              </a:defRPr>
            </a:pPr>
            <a:r>
              <a:t>Lộ trình người dùng</a:t>
            </a:r>
          </a:p>
        </p:txBody>
      </p:sp>
      <p:sp>
        <p:nvSpPr>
          <p:cNvPr id="6" name="TextBox 5"/>
          <p:cNvSpPr txBox="1"/>
          <p:nvPr/>
        </p:nvSpPr>
        <p:spPr>
          <a:xfrm>
            <a:off x="914400" y="4389120"/>
            <a:ext cx="10058400" cy="548640"/>
          </a:xfrm>
          <a:prstGeom prst="rect">
            <a:avLst/>
          </a:prstGeom>
          <a:noFill/>
        </p:spPr>
        <p:txBody>
          <a:bodyPr wrap="square">
            <a:spAutoFit/>
          </a:bodyPr>
          <a:lstStyle/>
          <a:p>
            <a:pPr algn="l">
              <a:defRPr sz="1800" b="0" i="0">
                <a:solidFill>
                  <a:srgbClr val="CCD5E0"/>
                </a:solidFill>
                <a:latin typeface="Calibri"/>
              </a:defRPr>
            </a:pPr>
            <a:r>
              <a:t>Hành trình khám phá sách và vòng lặp thói quen</a:t>
            </a:r>
          </a:p>
        </p:txBody>
      </p:sp>
      <p:sp>
        <p:nvSpPr>
          <p:cNvPr id="7" name="TextBox 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17 /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Hành trình khám phá sách</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554480"/>
            <a:ext cx="822960" cy="82296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40"/>
            <a:ext cx="822960" cy="548640"/>
          </a:xfrm>
          <a:prstGeom prst="rect">
            <a:avLst/>
          </a:prstGeom>
          <a:noFill/>
        </p:spPr>
        <p:txBody>
          <a:bodyPr wrap="square">
            <a:spAutoFit/>
          </a:bodyPr>
          <a:lstStyle/>
          <a:p>
            <a:pPr algn="ctr">
              <a:defRPr sz="2000" b="1" i="0">
                <a:solidFill>
                  <a:srgbClr val="FFFFFF"/>
                </a:solidFill>
                <a:latin typeface="Calibri"/>
              </a:defRPr>
            </a:pPr>
            <a:r>
              <a:t>01</a:t>
            </a:r>
          </a:p>
        </p:txBody>
      </p:sp>
      <p:sp>
        <p:nvSpPr>
          <p:cNvPr id="7" name="TextBox 6"/>
          <p:cNvSpPr txBox="1"/>
          <p:nvPr/>
        </p:nvSpPr>
        <p:spPr>
          <a:xfrm>
            <a:off x="1737360" y="1783080"/>
            <a:ext cx="548640" cy="365760"/>
          </a:xfrm>
          <a:prstGeom prst="rect">
            <a:avLst/>
          </a:prstGeom>
          <a:noFill/>
        </p:spPr>
        <p:txBody>
          <a:bodyPr wrap="square">
            <a:spAutoFit/>
          </a:bodyPr>
          <a:lstStyle/>
          <a:p>
            <a:pPr algn="l">
              <a:defRPr sz="1800" b="0" i="0">
                <a:solidFill>
                  <a:srgbClr val="6B7280"/>
                </a:solidFill>
                <a:latin typeface="Calibri"/>
              </a:defRPr>
            </a:pPr>
            <a:r>
              <a:t>→</a:t>
            </a:r>
          </a:p>
        </p:txBody>
      </p:sp>
      <p:sp>
        <p:nvSpPr>
          <p:cNvPr id="8" name="TextBox 7"/>
          <p:cNvSpPr txBox="1"/>
          <p:nvPr/>
        </p:nvSpPr>
        <p:spPr>
          <a:xfrm>
            <a:off x="365760" y="2560320"/>
            <a:ext cx="1828800" cy="640080"/>
          </a:xfrm>
          <a:prstGeom prst="rect">
            <a:avLst/>
          </a:prstGeom>
          <a:noFill/>
        </p:spPr>
        <p:txBody>
          <a:bodyPr wrap="square">
            <a:spAutoFit/>
          </a:bodyPr>
          <a:lstStyle/>
          <a:p>
            <a:pPr algn="ctr">
              <a:defRPr sz="1400" b="1" i="0">
                <a:solidFill>
                  <a:srgbClr val="1E1E1E"/>
                </a:solidFill>
                <a:latin typeface="Calibri"/>
              </a:defRPr>
            </a:pPr>
            <a:r>
              <a:t>Đăng ký &amp;</a:t>
            </a:r>
            <a:br/>
            <a:r>
              <a:t>Khảo sát</a:t>
            </a:r>
          </a:p>
        </p:txBody>
      </p:sp>
      <p:sp>
        <p:nvSpPr>
          <p:cNvPr id="9" name="TextBox 8"/>
          <p:cNvSpPr txBox="1"/>
          <p:nvPr/>
        </p:nvSpPr>
        <p:spPr>
          <a:xfrm>
            <a:off x="411480" y="3200400"/>
            <a:ext cx="1737360" cy="640080"/>
          </a:xfrm>
          <a:prstGeom prst="rect">
            <a:avLst/>
          </a:prstGeom>
          <a:noFill/>
        </p:spPr>
        <p:txBody>
          <a:bodyPr wrap="square">
            <a:spAutoFit/>
          </a:bodyPr>
          <a:lstStyle/>
          <a:p>
            <a:pPr algn="ctr">
              <a:defRPr sz="1100" b="0" i="0">
                <a:solidFill>
                  <a:srgbClr val="6B7280"/>
                </a:solidFill>
                <a:latin typeface="Calibri"/>
              </a:defRPr>
            </a:pPr>
            <a:r>
              <a:t>Tạo tài khoản,</a:t>
            </a:r>
            <a:br/>
            <a:r>
              <a:t>điền sở thích đọc</a:t>
            </a:r>
          </a:p>
        </p:txBody>
      </p:sp>
      <p:sp>
        <p:nvSpPr>
          <p:cNvPr id="10" name="Oval 9"/>
          <p:cNvSpPr/>
          <p:nvPr/>
        </p:nvSpPr>
        <p:spPr>
          <a:xfrm>
            <a:off x="2834640" y="1554480"/>
            <a:ext cx="822960" cy="82296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4640" y="1691640"/>
            <a:ext cx="822960" cy="548640"/>
          </a:xfrm>
          <a:prstGeom prst="rect">
            <a:avLst/>
          </a:prstGeom>
          <a:noFill/>
        </p:spPr>
        <p:txBody>
          <a:bodyPr wrap="square">
            <a:spAutoFit/>
          </a:bodyPr>
          <a:lstStyle/>
          <a:p>
            <a:pPr algn="ctr">
              <a:defRPr sz="2000" b="1" i="0">
                <a:solidFill>
                  <a:srgbClr val="FFFFFF"/>
                </a:solidFill>
                <a:latin typeface="Calibri"/>
              </a:defRPr>
            </a:pPr>
            <a:r>
              <a:t>02</a:t>
            </a:r>
          </a:p>
        </p:txBody>
      </p:sp>
      <p:sp>
        <p:nvSpPr>
          <p:cNvPr id="12" name="TextBox 11"/>
          <p:cNvSpPr txBox="1"/>
          <p:nvPr/>
        </p:nvSpPr>
        <p:spPr>
          <a:xfrm>
            <a:off x="3703320" y="1783080"/>
            <a:ext cx="548640" cy="365760"/>
          </a:xfrm>
          <a:prstGeom prst="rect">
            <a:avLst/>
          </a:prstGeom>
          <a:noFill/>
        </p:spPr>
        <p:txBody>
          <a:bodyPr wrap="square">
            <a:spAutoFit/>
          </a:bodyPr>
          <a:lstStyle/>
          <a:p>
            <a:pPr algn="l">
              <a:defRPr sz="1800" b="0" i="0">
                <a:solidFill>
                  <a:srgbClr val="6B7280"/>
                </a:solidFill>
                <a:latin typeface="Calibri"/>
              </a:defRPr>
            </a:pPr>
            <a:r>
              <a:t>→</a:t>
            </a:r>
          </a:p>
        </p:txBody>
      </p:sp>
      <p:sp>
        <p:nvSpPr>
          <p:cNvPr id="13" name="TextBox 12"/>
          <p:cNvSpPr txBox="1"/>
          <p:nvPr/>
        </p:nvSpPr>
        <p:spPr>
          <a:xfrm>
            <a:off x="2331720" y="2560320"/>
            <a:ext cx="1828800" cy="640080"/>
          </a:xfrm>
          <a:prstGeom prst="rect">
            <a:avLst/>
          </a:prstGeom>
          <a:noFill/>
        </p:spPr>
        <p:txBody>
          <a:bodyPr wrap="square">
            <a:spAutoFit/>
          </a:bodyPr>
          <a:lstStyle/>
          <a:p>
            <a:pPr algn="ctr">
              <a:defRPr sz="1400" b="1" i="0">
                <a:solidFill>
                  <a:srgbClr val="1E1E1E"/>
                </a:solidFill>
                <a:latin typeface="Calibri"/>
              </a:defRPr>
            </a:pPr>
            <a:r>
              <a:t>Nhận gợi ý</a:t>
            </a:r>
            <a:br/>
            <a:r>
              <a:t>sách</a:t>
            </a:r>
          </a:p>
        </p:txBody>
      </p:sp>
      <p:sp>
        <p:nvSpPr>
          <p:cNvPr id="14" name="TextBox 13"/>
          <p:cNvSpPr txBox="1"/>
          <p:nvPr/>
        </p:nvSpPr>
        <p:spPr>
          <a:xfrm>
            <a:off x="2377440" y="3200400"/>
            <a:ext cx="1737360" cy="640080"/>
          </a:xfrm>
          <a:prstGeom prst="rect">
            <a:avLst/>
          </a:prstGeom>
          <a:noFill/>
        </p:spPr>
        <p:txBody>
          <a:bodyPr wrap="square">
            <a:spAutoFit/>
          </a:bodyPr>
          <a:lstStyle/>
          <a:p>
            <a:pPr algn="ctr">
              <a:defRPr sz="1100" b="0" i="0">
                <a:solidFill>
                  <a:srgbClr val="6B7280"/>
                </a:solidFill>
                <a:latin typeface="Calibri"/>
              </a:defRPr>
            </a:pPr>
            <a:r>
              <a:t>AI đề xuất 3 cuốn</a:t>
            </a:r>
            <a:br/>
            <a:r>
              <a:t>phù hợp nhất</a:t>
            </a:r>
          </a:p>
        </p:txBody>
      </p:sp>
      <p:sp>
        <p:nvSpPr>
          <p:cNvPr id="15" name="Oval 14"/>
          <p:cNvSpPr/>
          <p:nvPr/>
        </p:nvSpPr>
        <p:spPr>
          <a:xfrm>
            <a:off x="4800600" y="1554480"/>
            <a:ext cx="822960" cy="822960"/>
          </a:xfrm>
          <a:prstGeom prst="ellipse">
            <a:avLst/>
          </a:prstGeom>
          <a:solidFill>
            <a:srgbClr val="4A90D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00600" y="1691640"/>
            <a:ext cx="822960" cy="548640"/>
          </a:xfrm>
          <a:prstGeom prst="rect">
            <a:avLst/>
          </a:prstGeom>
          <a:noFill/>
        </p:spPr>
        <p:txBody>
          <a:bodyPr wrap="square">
            <a:spAutoFit/>
          </a:bodyPr>
          <a:lstStyle/>
          <a:p>
            <a:pPr algn="ctr">
              <a:defRPr sz="2000" b="1" i="0">
                <a:solidFill>
                  <a:srgbClr val="FFFFFF"/>
                </a:solidFill>
                <a:latin typeface="Calibri"/>
              </a:defRPr>
            </a:pPr>
            <a:r>
              <a:t>03</a:t>
            </a:r>
          </a:p>
        </p:txBody>
      </p:sp>
      <p:sp>
        <p:nvSpPr>
          <p:cNvPr id="17" name="TextBox 16"/>
          <p:cNvSpPr txBox="1"/>
          <p:nvPr/>
        </p:nvSpPr>
        <p:spPr>
          <a:xfrm>
            <a:off x="5669280" y="1783080"/>
            <a:ext cx="548640" cy="365760"/>
          </a:xfrm>
          <a:prstGeom prst="rect">
            <a:avLst/>
          </a:prstGeom>
          <a:noFill/>
        </p:spPr>
        <p:txBody>
          <a:bodyPr wrap="square">
            <a:spAutoFit/>
          </a:bodyPr>
          <a:lstStyle/>
          <a:p>
            <a:pPr algn="l">
              <a:defRPr sz="1800" b="0" i="0">
                <a:solidFill>
                  <a:srgbClr val="6B7280"/>
                </a:solidFill>
                <a:latin typeface="Calibri"/>
              </a:defRPr>
            </a:pPr>
            <a:r>
              <a:t>→</a:t>
            </a:r>
          </a:p>
        </p:txBody>
      </p:sp>
      <p:sp>
        <p:nvSpPr>
          <p:cNvPr id="18" name="TextBox 17"/>
          <p:cNvSpPr txBox="1"/>
          <p:nvPr/>
        </p:nvSpPr>
        <p:spPr>
          <a:xfrm>
            <a:off x="4297680" y="2560320"/>
            <a:ext cx="1828800" cy="640080"/>
          </a:xfrm>
          <a:prstGeom prst="rect">
            <a:avLst/>
          </a:prstGeom>
          <a:noFill/>
        </p:spPr>
        <p:txBody>
          <a:bodyPr wrap="square">
            <a:spAutoFit/>
          </a:bodyPr>
          <a:lstStyle/>
          <a:p>
            <a:pPr algn="ctr">
              <a:defRPr sz="1400" b="1" i="0">
                <a:solidFill>
                  <a:srgbClr val="1E1E1E"/>
                </a:solidFill>
                <a:latin typeface="Calibri"/>
              </a:defRPr>
            </a:pPr>
            <a:r>
              <a:t>Chọn nhiệm</a:t>
            </a:r>
            <a:br/>
            <a:r>
              <a:t>vụ đọc</a:t>
            </a:r>
          </a:p>
        </p:txBody>
      </p:sp>
      <p:sp>
        <p:nvSpPr>
          <p:cNvPr id="19" name="TextBox 18"/>
          <p:cNvSpPr txBox="1"/>
          <p:nvPr/>
        </p:nvSpPr>
        <p:spPr>
          <a:xfrm>
            <a:off x="4343400" y="3200400"/>
            <a:ext cx="1737360" cy="640080"/>
          </a:xfrm>
          <a:prstGeom prst="rect">
            <a:avLst/>
          </a:prstGeom>
          <a:noFill/>
        </p:spPr>
        <p:txBody>
          <a:bodyPr wrap="square">
            <a:spAutoFit/>
          </a:bodyPr>
          <a:lstStyle/>
          <a:p>
            <a:pPr algn="ctr">
              <a:defRPr sz="1100" b="0" i="0">
                <a:solidFill>
                  <a:srgbClr val="6B7280"/>
                </a:solidFill>
                <a:latin typeface="Calibri"/>
              </a:defRPr>
            </a:pPr>
            <a:r>
              <a:t>Kích hoạt mục tiêu</a:t>
            </a:r>
            <a:br/>
            <a:r>
              <a:t>đọc sách</a:t>
            </a:r>
          </a:p>
        </p:txBody>
      </p:sp>
      <p:sp>
        <p:nvSpPr>
          <p:cNvPr id="20" name="Oval 19"/>
          <p:cNvSpPr/>
          <p:nvPr/>
        </p:nvSpPr>
        <p:spPr>
          <a:xfrm>
            <a:off x="6766560" y="1554480"/>
            <a:ext cx="822960" cy="822960"/>
          </a:xfrm>
          <a:prstGeom prst="ellipse">
            <a:avLst/>
          </a:prstGeom>
          <a:solidFill>
            <a:srgbClr val="27AE6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0" y="1691640"/>
            <a:ext cx="822960" cy="548640"/>
          </a:xfrm>
          <a:prstGeom prst="rect">
            <a:avLst/>
          </a:prstGeom>
          <a:noFill/>
        </p:spPr>
        <p:txBody>
          <a:bodyPr wrap="square">
            <a:spAutoFit/>
          </a:bodyPr>
          <a:lstStyle/>
          <a:p>
            <a:pPr algn="ctr">
              <a:defRPr sz="2000" b="1" i="0">
                <a:solidFill>
                  <a:srgbClr val="FFFFFF"/>
                </a:solidFill>
                <a:latin typeface="Calibri"/>
              </a:defRPr>
            </a:pPr>
            <a:r>
              <a:t>04</a:t>
            </a:r>
          </a:p>
        </p:txBody>
      </p:sp>
      <p:sp>
        <p:nvSpPr>
          <p:cNvPr id="22" name="TextBox 21"/>
          <p:cNvSpPr txBox="1"/>
          <p:nvPr/>
        </p:nvSpPr>
        <p:spPr>
          <a:xfrm>
            <a:off x="7635240" y="1783080"/>
            <a:ext cx="548640" cy="365760"/>
          </a:xfrm>
          <a:prstGeom prst="rect">
            <a:avLst/>
          </a:prstGeom>
          <a:noFill/>
        </p:spPr>
        <p:txBody>
          <a:bodyPr wrap="square">
            <a:spAutoFit/>
          </a:bodyPr>
          <a:lstStyle/>
          <a:p>
            <a:pPr algn="l">
              <a:defRPr sz="1800" b="0" i="0">
                <a:solidFill>
                  <a:srgbClr val="6B7280"/>
                </a:solidFill>
                <a:latin typeface="Calibri"/>
              </a:defRPr>
            </a:pPr>
            <a:r>
              <a:t>→</a:t>
            </a:r>
          </a:p>
        </p:txBody>
      </p:sp>
      <p:sp>
        <p:nvSpPr>
          <p:cNvPr id="23" name="TextBox 22"/>
          <p:cNvSpPr txBox="1"/>
          <p:nvPr/>
        </p:nvSpPr>
        <p:spPr>
          <a:xfrm>
            <a:off x="6263640" y="2560320"/>
            <a:ext cx="1828800" cy="640080"/>
          </a:xfrm>
          <a:prstGeom prst="rect">
            <a:avLst/>
          </a:prstGeom>
          <a:noFill/>
        </p:spPr>
        <p:txBody>
          <a:bodyPr wrap="square">
            <a:spAutoFit/>
          </a:bodyPr>
          <a:lstStyle/>
          <a:p>
            <a:pPr algn="ctr">
              <a:defRPr sz="1400" b="1" i="0">
                <a:solidFill>
                  <a:srgbClr val="1E1E1E"/>
                </a:solidFill>
                <a:latin typeface="Calibri"/>
              </a:defRPr>
            </a:pPr>
            <a:r>
              <a:t>Đọc sách</a:t>
            </a:r>
            <a:br/>
            <a:r>
              <a:t>tập trung</a:t>
            </a:r>
          </a:p>
        </p:txBody>
      </p:sp>
      <p:sp>
        <p:nvSpPr>
          <p:cNvPr id="24" name="TextBox 23"/>
          <p:cNvSpPr txBox="1"/>
          <p:nvPr/>
        </p:nvSpPr>
        <p:spPr>
          <a:xfrm>
            <a:off x="6309360" y="3200400"/>
            <a:ext cx="1737360" cy="640080"/>
          </a:xfrm>
          <a:prstGeom prst="rect">
            <a:avLst/>
          </a:prstGeom>
          <a:noFill/>
        </p:spPr>
        <p:txBody>
          <a:bodyPr wrap="square">
            <a:spAutoFit/>
          </a:bodyPr>
          <a:lstStyle/>
          <a:p>
            <a:pPr algn="ctr">
              <a:defRPr sz="1100" b="0" i="0">
                <a:solidFill>
                  <a:srgbClr val="6B7280"/>
                </a:solidFill>
                <a:latin typeface="Calibri"/>
              </a:defRPr>
            </a:pPr>
            <a:r>
              <a:t>Pomodoro + nhật ký</a:t>
            </a:r>
            <a:br/>
            <a:r>
              <a:t>sau khi đọc</a:t>
            </a:r>
          </a:p>
        </p:txBody>
      </p:sp>
      <p:sp>
        <p:nvSpPr>
          <p:cNvPr id="25" name="Oval 24"/>
          <p:cNvSpPr/>
          <p:nvPr/>
        </p:nvSpPr>
        <p:spPr>
          <a:xfrm>
            <a:off x="8732520" y="1554480"/>
            <a:ext cx="822960" cy="822960"/>
          </a:xfrm>
          <a:prstGeom prst="ellipse">
            <a:avLst/>
          </a:prstGeom>
          <a:solidFill>
            <a:srgbClr val="F5A62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32520" y="1691640"/>
            <a:ext cx="822960" cy="548640"/>
          </a:xfrm>
          <a:prstGeom prst="rect">
            <a:avLst/>
          </a:prstGeom>
          <a:noFill/>
        </p:spPr>
        <p:txBody>
          <a:bodyPr wrap="square">
            <a:spAutoFit/>
          </a:bodyPr>
          <a:lstStyle/>
          <a:p>
            <a:pPr algn="ctr">
              <a:defRPr sz="2000" b="1" i="0">
                <a:solidFill>
                  <a:srgbClr val="FFFFFF"/>
                </a:solidFill>
                <a:latin typeface="Calibri"/>
              </a:defRPr>
            </a:pPr>
            <a:r>
              <a:t>05</a:t>
            </a:r>
          </a:p>
        </p:txBody>
      </p:sp>
      <p:sp>
        <p:nvSpPr>
          <p:cNvPr id="27" name="TextBox 26"/>
          <p:cNvSpPr txBox="1"/>
          <p:nvPr/>
        </p:nvSpPr>
        <p:spPr>
          <a:xfrm>
            <a:off x="9601200" y="1783080"/>
            <a:ext cx="548640" cy="365760"/>
          </a:xfrm>
          <a:prstGeom prst="rect">
            <a:avLst/>
          </a:prstGeom>
          <a:noFill/>
        </p:spPr>
        <p:txBody>
          <a:bodyPr wrap="square">
            <a:spAutoFit/>
          </a:bodyPr>
          <a:lstStyle/>
          <a:p>
            <a:pPr algn="l">
              <a:defRPr sz="1800" b="0" i="0">
                <a:solidFill>
                  <a:srgbClr val="6B7280"/>
                </a:solidFill>
                <a:latin typeface="Calibri"/>
              </a:defRPr>
            </a:pPr>
            <a:r>
              <a:t>→</a:t>
            </a:r>
          </a:p>
        </p:txBody>
      </p:sp>
      <p:sp>
        <p:nvSpPr>
          <p:cNvPr id="28" name="TextBox 27"/>
          <p:cNvSpPr txBox="1"/>
          <p:nvPr/>
        </p:nvSpPr>
        <p:spPr>
          <a:xfrm>
            <a:off x="8229600" y="2560320"/>
            <a:ext cx="1828800" cy="640080"/>
          </a:xfrm>
          <a:prstGeom prst="rect">
            <a:avLst/>
          </a:prstGeom>
          <a:noFill/>
        </p:spPr>
        <p:txBody>
          <a:bodyPr wrap="square">
            <a:spAutoFit/>
          </a:bodyPr>
          <a:lstStyle/>
          <a:p>
            <a:pPr algn="ctr">
              <a:defRPr sz="1400" b="1" i="0">
                <a:solidFill>
                  <a:srgbClr val="1E1E1E"/>
                </a:solidFill>
                <a:latin typeface="Calibri"/>
              </a:defRPr>
            </a:pPr>
            <a:r>
              <a:t>Ghi nhận &amp;</a:t>
            </a:r>
            <a:br/>
            <a:r>
              <a:t>Tiến bộ</a:t>
            </a:r>
          </a:p>
        </p:txBody>
      </p:sp>
      <p:sp>
        <p:nvSpPr>
          <p:cNvPr id="29" name="TextBox 28"/>
          <p:cNvSpPr txBox="1"/>
          <p:nvPr/>
        </p:nvSpPr>
        <p:spPr>
          <a:xfrm>
            <a:off x="8275320" y="3200400"/>
            <a:ext cx="1737360" cy="640080"/>
          </a:xfrm>
          <a:prstGeom prst="rect">
            <a:avLst/>
          </a:prstGeom>
          <a:noFill/>
        </p:spPr>
        <p:txBody>
          <a:bodyPr wrap="square">
            <a:spAutoFit/>
          </a:bodyPr>
          <a:lstStyle/>
          <a:p>
            <a:pPr algn="ctr">
              <a:defRPr sz="1100" b="0" i="0">
                <a:solidFill>
                  <a:srgbClr val="6B7280"/>
                </a:solidFill>
                <a:latin typeface="Calibri"/>
              </a:defRPr>
            </a:pPr>
            <a:r>
              <a:t>Cập nhật XP, streak,</a:t>
            </a:r>
            <a:br/>
            <a:r>
              <a:t>thống kê</a:t>
            </a:r>
          </a:p>
        </p:txBody>
      </p:sp>
      <p:sp>
        <p:nvSpPr>
          <p:cNvPr id="30" name="Oval 29"/>
          <p:cNvSpPr/>
          <p:nvPr/>
        </p:nvSpPr>
        <p:spPr>
          <a:xfrm>
            <a:off x="10698480" y="1554480"/>
            <a:ext cx="822960" cy="822960"/>
          </a:xfrm>
          <a:prstGeom prst="ellipse">
            <a:avLst/>
          </a:prstGeom>
          <a:solidFill>
            <a:srgbClr val="E74C3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698480" y="1691640"/>
            <a:ext cx="822960" cy="548640"/>
          </a:xfrm>
          <a:prstGeom prst="rect">
            <a:avLst/>
          </a:prstGeom>
          <a:noFill/>
        </p:spPr>
        <p:txBody>
          <a:bodyPr wrap="square">
            <a:spAutoFit/>
          </a:bodyPr>
          <a:lstStyle/>
          <a:p>
            <a:pPr algn="ctr">
              <a:defRPr sz="2000" b="1" i="0">
                <a:solidFill>
                  <a:srgbClr val="FFFFFF"/>
                </a:solidFill>
                <a:latin typeface="Calibri"/>
              </a:defRPr>
            </a:pPr>
            <a:r>
              <a:t>06</a:t>
            </a:r>
          </a:p>
        </p:txBody>
      </p:sp>
      <p:sp>
        <p:nvSpPr>
          <p:cNvPr id="32" name="TextBox 31"/>
          <p:cNvSpPr txBox="1"/>
          <p:nvPr/>
        </p:nvSpPr>
        <p:spPr>
          <a:xfrm>
            <a:off x="10195560" y="2560320"/>
            <a:ext cx="1828800" cy="640080"/>
          </a:xfrm>
          <a:prstGeom prst="rect">
            <a:avLst/>
          </a:prstGeom>
          <a:noFill/>
        </p:spPr>
        <p:txBody>
          <a:bodyPr wrap="square">
            <a:spAutoFit/>
          </a:bodyPr>
          <a:lstStyle/>
          <a:p>
            <a:pPr algn="ctr">
              <a:defRPr sz="1400" b="1" i="0">
                <a:solidFill>
                  <a:srgbClr val="1E1E1E"/>
                </a:solidFill>
                <a:latin typeface="Calibri"/>
              </a:defRPr>
            </a:pPr>
            <a:r>
              <a:t>Quay lại</a:t>
            </a:r>
            <a:br/>
            <a:r>
              <a:t>Bước 2</a:t>
            </a:r>
          </a:p>
        </p:txBody>
      </p:sp>
      <p:sp>
        <p:nvSpPr>
          <p:cNvPr id="33" name="TextBox 32"/>
          <p:cNvSpPr txBox="1"/>
          <p:nvPr/>
        </p:nvSpPr>
        <p:spPr>
          <a:xfrm>
            <a:off x="10241280" y="3200400"/>
            <a:ext cx="1737360" cy="640080"/>
          </a:xfrm>
          <a:prstGeom prst="rect">
            <a:avLst/>
          </a:prstGeom>
          <a:noFill/>
        </p:spPr>
        <p:txBody>
          <a:bodyPr wrap="square">
            <a:spAutoFit/>
          </a:bodyPr>
          <a:lstStyle/>
          <a:p>
            <a:pPr algn="ctr">
              <a:defRPr sz="1100" b="0" i="0">
                <a:solidFill>
                  <a:srgbClr val="6B7280"/>
                </a:solidFill>
                <a:latin typeface="Calibri"/>
              </a:defRPr>
            </a:pPr>
            <a:r>
              <a:t>AI hiểu rõ hơn,</a:t>
            </a:r>
            <a:br/>
            <a:r>
              <a:t>gợi ý chính xác hơn</a:t>
            </a:r>
          </a:p>
        </p:txBody>
      </p:sp>
      <p:sp>
        <p:nvSpPr>
          <p:cNvPr id="34" name="Rounded Rectangle 33"/>
          <p:cNvSpPr/>
          <p:nvPr/>
        </p:nvSpPr>
        <p:spPr>
          <a:xfrm>
            <a:off x="731520" y="4206240"/>
            <a:ext cx="1069848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5840" y="4389120"/>
            <a:ext cx="4572000" cy="365760"/>
          </a:xfrm>
          <a:prstGeom prst="rect">
            <a:avLst/>
          </a:prstGeom>
          <a:noFill/>
        </p:spPr>
        <p:txBody>
          <a:bodyPr wrap="square">
            <a:spAutoFit/>
          </a:bodyPr>
          <a:lstStyle/>
          <a:p>
            <a:pPr algn="l">
              <a:defRPr sz="1600" b="1" i="0">
                <a:solidFill>
                  <a:srgbClr val="1A3C6E"/>
                </a:solidFill>
                <a:latin typeface="Calibri"/>
              </a:defRPr>
            </a:pPr>
            <a:r>
              <a:t>Vòng tròn đọc sách khép kín:</a:t>
            </a:r>
          </a:p>
        </p:txBody>
      </p:sp>
      <p:sp>
        <p:nvSpPr>
          <p:cNvPr id="36" name="TextBox 35"/>
          <p:cNvSpPr txBox="1"/>
          <p:nvPr/>
        </p:nvSpPr>
        <p:spPr>
          <a:xfrm>
            <a:off x="1005840" y="4846320"/>
            <a:ext cx="10058400" cy="731520"/>
          </a:xfrm>
          <a:prstGeom prst="rect">
            <a:avLst/>
          </a:prstGeom>
          <a:noFill/>
        </p:spPr>
        <p:txBody>
          <a:bodyPr wrap="square">
            <a:spAutoFit/>
          </a:bodyPr>
          <a:lstStyle/>
          <a:p>
            <a:pPr algn="l">
              <a:defRPr sz="1400" b="0" i="0">
                <a:solidFill>
                  <a:srgbClr val="1E1E1E"/>
                </a:solidFill>
                <a:latin typeface="Calibri"/>
              </a:defRPr>
            </a:pPr>
            <a:r>
              <a:t>Mỗi bước đều dẫn đến bước tiếp theo. Sau mỗi chu kỳ, AI hiểu rõ hơn về người đọc và đưa ra những gợi ý ngày càng chính xác — tạo nên một thói quen đọc sách bền vững.</a:t>
            </a:r>
          </a:p>
        </p:txBody>
      </p:sp>
      <p:sp>
        <p:nvSpPr>
          <p:cNvPr id="37" name="TextBox 36"/>
          <p:cNvSpPr txBox="1"/>
          <p:nvPr/>
        </p:nvSpPr>
        <p:spPr>
          <a:xfrm>
            <a:off x="1005840" y="5577840"/>
            <a:ext cx="10058400" cy="365760"/>
          </a:xfrm>
          <a:prstGeom prst="rect">
            <a:avLst/>
          </a:prstGeom>
          <a:noFill/>
        </p:spPr>
        <p:txBody>
          <a:bodyPr wrap="square">
            <a:spAutoFit/>
          </a:bodyPr>
          <a:lstStyle/>
          <a:p>
            <a:pPr algn="l">
              <a:defRPr sz="1300" b="1" i="0">
                <a:solidFill>
                  <a:srgbClr val="2D5F8A"/>
                </a:solidFill>
                <a:latin typeface="Calibri"/>
              </a:defRPr>
            </a:pPr>
            <a:r>
              <a:t>Mục tiêu: Biến việc đọc sách thành thói quen tự nhiên, không cần quá nhiều nỗ lực ý chí</a:t>
            </a:r>
          </a:p>
        </p:txBody>
      </p:sp>
      <p:sp>
        <p:nvSpPr>
          <p:cNvPr id="38" name="TextBox 37"/>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18 / 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Vòng lặp thói quen: Đọc — Ghi nhận — Tiến bộ</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554480"/>
            <a:ext cx="33832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783080" y="1828800"/>
            <a:ext cx="914400" cy="914400"/>
          </a:xfrm>
          <a:prstGeom prst="ellipse">
            <a:avLst/>
          </a:prstGeom>
          <a:solidFill>
            <a:srgbClr val="1A3C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ell.png"/>
          <p:cNvPicPr>
            <a:picLocks noChangeAspect="1"/>
          </p:cNvPicPr>
          <p:nvPr/>
        </p:nvPicPr>
        <p:blipFill>
          <a:blip r:embed="rId2"/>
          <a:stretch>
            <a:fillRect/>
          </a:stretch>
        </p:blipFill>
        <p:spPr>
          <a:xfrm>
            <a:off x="1920240" y="1965960"/>
            <a:ext cx="640080" cy="640080"/>
          </a:xfrm>
          <a:prstGeom prst="rect">
            <a:avLst/>
          </a:prstGeom>
        </p:spPr>
      </p:pic>
      <p:sp>
        <p:nvSpPr>
          <p:cNvPr id="8" name="TextBox 7"/>
          <p:cNvSpPr txBox="1"/>
          <p:nvPr/>
        </p:nvSpPr>
        <p:spPr>
          <a:xfrm>
            <a:off x="731520" y="2926080"/>
            <a:ext cx="3017520" cy="457200"/>
          </a:xfrm>
          <a:prstGeom prst="rect">
            <a:avLst/>
          </a:prstGeom>
          <a:noFill/>
        </p:spPr>
        <p:txBody>
          <a:bodyPr wrap="square">
            <a:spAutoFit/>
          </a:bodyPr>
          <a:lstStyle/>
          <a:p>
            <a:pPr algn="ctr">
              <a:defRPr sz="1700" b="1" i="0">
                <a:solidFill>
                  <a:srgbClr val="1A3C6E"/>
                </a:solidFill>
                <a:latin typeface="Calibri"/>
              </a:defRPr>
            </a:pPr>
            <a:r>
              <a:t>Tín hiệu (Cue)</a:t>
            </a:r>
          </a:p>
        </p:txBody>
      </p:sp>
      <p:sp>
        <p:nvSpPr>
          <p:cNvPr id="9" name="Rectangle 8"/>
          <p:cNvSpPr/>
          <p:nvPr/>
        </p:nvSpPr>
        <p:spPr>
          <a:xfrm>
            <a:off x="1280160" y="3474720"/>
            <a:ext cx="1920240" cy="27432"/>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657600"/>
            <a:ext cx="3017520" cy="1371600"/>
          </a:xfrm>
          <a:prstGeom prst="rect">
            <a:avLst/>
          </a:prstGeom>
          <a:noFill/>
        </p:spPr>
        <p:txBody>
          <a:bodyPr wrap="square">
            <a:spAutoFit/>
          </a:bodyPr>
          <a:lstStyle/>
          <a:p>
            <a:pPr algn="ctr">
              <a:defRPr sz="1400" b="0" i="0">
                <a:solidFill>
                  <a:srgbClr val="6B7280"/>
                </a:solidFill>
                <a:latin typeface="Calibri"/>
              </a:defRPr>
            </a:pPr>
            <a:r>
              <a:t>Lời nhắc từ nhiệm vụ đọc,</a:t>
            </a:r>
            <a:br/>
            <a:r>
              <a:t>thông báo chuỗi ngày đọc,</a:t>
            </a:r>
            <a:br/>
            <a:r>
              <a:t>hoặc gợi ý sách mới từ AI</a:t>
            </a:r>
          </a:p>
        </p:txBody>
      </p:sp>
      <p:sp>
        <p:nvSpPr>
          <p:cNvPr id="11" name="Rounded Rectangle 10"/>
          <p:cNvSpPr/>
          <p:nvPr/>
        </p:nvSpPr>
        <p:spPr>
          <a:xfrm>
            <a:off x="4389120" y="1554480"/>
            <a:ext cx="33832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23560" y="1828800"/>
            <a:ext cx="914400" cy="914400"/>
          </a:xfrm>
          <a:prstGeom prst="ellipse">
            <a:avLst/>
          </a:prstGeom>
          <a:solidFill>
            <a:srgbClr val="2D5F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book.png"/>
          <p:cNvPicPr>
            <a:picLocks noChangeAspect="1"/>
          </p:cNvPicPr>
          <p:nvPr/>
        </p:nvPicPr>
        <p:blipFill>
          <a:blip r:embed="rId3"/>
          <a:stretch>
            <a:fillRect/>
          </a:stretch>
        </p:blipFill>
        <p:spPr>
          <a:xfrm>
            <a:off x="5760720" y="1965960"/>
            <a:ext cx="640080" cy="640080"/>
          </a:xfrm>
          <a:prstGeom prst="rect">
            <a:avLst/>
          </a:prstGeom>
        </p:spPr>
      </p:pic>
      <p:sp>
        <p:nvSpPr>
          <p:cNvPr id="14" name="TextBox 13"/>
          <p:cNvSpPr txBox="1"/>
          <p:nvPr/>
        </p:nvSpPr>
        <p:spPr>
          <a:xfrm>
            <a:off x="4572000" y="2926080"/>
            <a:ext cx="3017520" cy="457200"/>
          </a:xfrm>
          <a:prstGeom prst="rect">
            <a:avLst/>
          </a:prstGeom>
          <a:noFill/>
        </p:spPr>
        <p:txBody>
          <a:bodyPr wrap="square">
            <a:spAutoFit/>
          </a:bodyPr>
          <a:lstStyle/>
          <a:p>
            <a:pPr algn="ctr">
              <a:defRPr sz="1700" b="1" i="0">
                <a:solidFill>
                  <a:srgbClr val="2D5F8A"/>
                </a:solidFill>
                <a:latin typeface="Calibri"/>
              </a:defRPr>
            </a:pPr>
            <a:r>
              <a:t>Hành động (Routine)</a:t>
            </a:r>
          </a:p>
        </p:txBody>
      </p:sp>
      <p:sp>
        <p:nvSpPr>
          <p:cNvPr id="15" name="Rectangle 14"/>
          <p:cNvSpPr/>
          <p:nvPr/>
        </p:nvSpPr>
        <p:spPr>
          <a:xfrm>
            <a:off x="5120640" y="3474720"/>
            <a:ext cx="192024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3657600"/>
            <a:ext cx="3017520" cy="1371600"/>
          </a:xfrm>
          <a:prstGeom prst="rect">
            <a:avLst/>
          </a:prstGeom>
          <a:noFill/>
        </p:spPr>
        <p:txBody>
          <a:bodyPr wrap="square">
            <a:spAutoFit/>
          </a:bodyPr>
          <a:lstStyle/>
          <a:p>
            <a:pPr algn="ctr">
              <a:defRPr sz="1400" b="0" i="0">
                <a:solidFill>
                  <a:srgbClr val="6B7280"/>
                </a:solidFill>
                <a:latin typeface="Calibri"/>
              </a:defRPr>
            </a:pPr>
            <a:r>
              <a:t>Đọc sách tập trung với</a:t>
            </a:r>
            <a:br/>
            <a:r>
              <a:t>đồng hồ Pomodoro, ghi</a:t>
            </a:r>
            <a:br/>
            <a:r>
              <a:t>nhật ký sau khi đọc</a:t>
            </a:r>
          </a:p>
        </p:txBody>
      </p:sp>
      <p:sp>
        <p:nvSpPr>
          <p:cNvPr id="17" name="Rounded Rectangle 16"/>
          <p:cNvSpPr/>
          <p:nvPr/>
        </p:nvSpPr>
        <p:spPr>
          <a:xfrm>
            <a:off x="8229600" y="1554480"/>
            <a:ext cx="33832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464040" y="1828800"/>
            <a:ext cx="914400" cy="914400"/>
          </a:xfrm>
          <a:prstGeom prst="ellipse">
            <a:avLst/>
          </a:prstGeom>
          <a:solidFill>
            <a:srgbClr val="4A90D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tar.png"/>
          <p:cNvPicPr>
            <a:picLocks noChangeAspect="1"/>
          </p:cNvPicPr>
          <p:nvPr/>
        </p:nvPicPr>
        <p:blipFill>
          <a:blip r:embed="rId4"/>
          <a:stretch>
            <a:fillRect/>
          </a:stretch>
        </p:blipFill>
        <p:spPr>
          <a:xfrm>
            <a:off x="9601200" y="1965960"/>
            <a:ext cx="640080" cy="640080"/>
          </a:xfrm>
          <a:prstGeom prst="rect">
            <a:avLst/>
          </a:prstGeom>
        </p:spPr>
      </p:pic>
      <p:sp>
        <p:nvSpPr>
          <p:cNvPr id="20" name="TextBox 19"/>
          <p:cNvSpPr txBox="1"/>
          <p:nvPr/>
        </p:nvSpPr>
        <p:spPr>
          <a:xfrm>
            <a:off x="8412480" y="2926080"/>
            <a:ext cx="3017520" cy="457200"/>
          </a:xfrm>
          <a:prstGeom prst="rect">
            <a:avLst/>
          </a:prstGeom>
          <a:noFill/>
        </p:spPr>
        <p:txBody>
          <a:bodyPr wrap="square">
            <a:spAutoFit/>
          </a:bodyPr>
          <a:lstStyle/>
          <a:p>
            <a:pPr algn="ctr">
              <a:defRPr sz="1700" b="1" i="0">
                <a:solidFill>
                  <a:srgbClr val="4A90D9"/>
                </a:solidFill>
                <a:latin typeface="Calibri"/>
              </a:defRPr>
            </a:pPr>
            <a:r>
              <a:t>Phần thưởng (Reward)</a:t>
            </a:r>
          </a:p>
        </p:txBody>
      </p:sp>
      <p:sp>
        <p:nvSpPr>
          <p:cNvPr id="21" name="Rectangle 20"/>
          <p:cNvSpPr/>
          <p:nvPr/>
        </p:nvSpPr>
        <p:spPr>
          <a:xfrm>
            <a:off x="8961120" y="3474720"/>
            <a:ext cx="192024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3657600"/>
            <a:ext cx="3017520" cy="1371600"/>
          </a:xfrm>
          <a:prstGeom prst="rect">
            <a:avLst/>
          </a:prstGeom>
          <a:noFill/>
        </p:spPr>
        <p:txBody>
          <a:bodyPr wrap="square">
            <a:spAutoFit/>
          </a:bodyPr>
          <a:lstStyle/>
          <a:p>
            <a:pPr algn="ctr">
              <a:defRPr sz="1400" b="0" i="0">
                <a:solidFill>
                  <a:srgbClr val="6B7280"/>
                </a:solidFill>
                <a:latin typeface="Calibri"/>
              </a:defRPr>
            </a:pPr>
            <a:r>
              <a:t>Điểm XP, danh hiệu, cập</a:t>
            </a:r>
            <a:br/>
            <a:r>
              <a:t>nhật chuỗi ngày đọc,</a:t>
            </a:r>
            <a:br/>
            <a:r>
              <a:t>sự hài lòng hoàn thành</a:t>
            </a:r>
            <a:br/>
            <a:r>
              <a:t>mục tiêu</a:t>
            </a:r>
          </a:p>
        </p:txBody>
      </p:sp>
      <p:sp>
        <p:nvSpPr>
          <p:cNvPr id="23" name="TextBox 22"/>
          <p:cNvSpPr txBox="1"/>
          <p:nvPr/>
        </p:nvSpPr>
        <p:spPr>
          <a:xfrm>
            <a:off x="3657600" y="3200400"/>
            <a:ext cx="731520" cy="457200"/>
          </a:xfrm>
          <a:prstGeom prst="rect">
            <a:avLst/>
          </a:prstGeom>
          <a:noFill/>
        </p:spPr>
        <p:txBody>
          <a:bodyPr wrap="square">
            <a:spAutoFit/>
          </a:bodyPr>
          <a:lstStyle/>
          <a:p>
            <a:pPr algn="ctr">
              <a:defRPr sz="2800" b="0" i="0">
                <a:solidFill>
                  <a:srgbClr val="6B7280"/>
                </a:solidFill>
                <a:latin typeface="Calibri"/>
              </a:defRPr>
            </a:pPr>
            <a:r>
              <a:t>→</a:t>
            </a:r>
          </a:p>
        </p:txBody>
      </p:sp>
      <p:sp>
        <p:nvSpPr>
          <p:cNvPr id="24" name="TextBox 23"/>
          <p:cNvSpPr txBox="1"/>
          <p:nvPr/>
        </p:nvSpPr>
        <p:spPr>
          <a:xfrm>
            <a:off x="7498079" y="3200400"/>
            <a:ext cx="731520" cy="457200"/>
          </a:xfrm>
          <a:prstGeom prst="rect">
            <a:avLst/>
          </a:prstGeom>
          <a:noFill/>
        </p:spPr>
        <p:txBody>
          <a:bodyPr wrap="square">
            <a:spAutoFit/>
          </a:bodyPr>
          <a:lstStyle/>
          <a:p>
            <a:pPr algn="ctr">
              <a:defRPr sz="2800" b="0" i="0">
                <a:solidFill>
                  <a:srgbClr val="6B7280"/>
                </a:solidFill>
                <a:latin typeface="Calibri"/>
              </a:defRPr>
            </a:pPr>
            <a:r>
              <a:t>→</a:t>
            </a:r>
          </a:p>
        </p:txBody>
      </p:sp>
      <p:sp>
        <p:nvSpPr>
          <p:cNvPr id="25" name="Rounded Rectangle 24"/>
          <p:cNvSpPr/>
          <p:nvPr/>
        </p:nvSpPr>
        <p:spPr>
          <a:xfrm>
            <a:off x="731520" y="5852160"/>
            <a:ext cx="1069848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5943600"/>
            <a:ext cx="10241280" cy="457200"/>
          </a:xfrm>
          <a:prstGeom prst="rect">
            <a:avLst/>
          </a:prstGeom>
          <a:noFill/>
        </p:spPr>
        <p:txBody>
          <a:bodyPr wrap="square">
            <a:spAutoFit/>
          </a:bodyPr>
          <a:lstStyle/>
          <a:p>
            <a:pPr algn="ctr">
              <a:defRPr sz="1400" b="1" i="0">
                <a:solidFill>
                  <a:srgbClr val="FFFFFF"/>
                </a:solidFill>
                <a:latin typeface="Calibri"/>
              </a:defRPr>
            </a:pPr>
            <a:r>
              <a:t>Mỗi chu kỳ củng cố thói quen — Đọc sách trở thành tự nhiên, không cần ý chí</a:t>
            </a:r>
          </a:p>
        </p:txBody>
      </p:sp>
      <p:sp>
        <p:nvSpPr>
          <p:cNvPr id="27" name="TextBox 2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19 / 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058400" cy="731520"/>
          </a:xfrm>
          <a:prstGeom prst="rect">
            <a:avLst/>
          </a:prstGeom>
          <a:noFill/>
        </p:spPr>
        <p:txBody>
          <a:bodyPr wrap="square">
            <a:spAutoFit/>
          </a:bodyPr>
          <a:lstStyle/>
          <a:p>
            <a:pPr algn="l">
              <a:defRPr sz="7200" b="1" i="0">
                <a:solidFill>
                  <a:srgbClr val="FFFFFF"/>
                </a:solidFill>
                <a:latin typeface="Calibri"/>
              </a:defRPr>
            </a:pPr>
            <a:r>
              <a:t>05</a:t>
            </a:r>
          </a:p>
        </p:txBody>
      </p:sp>
      <p:sp>
        <p:nvSpPr>
          <p:cNvPr id="4" name="Rectangle 3"/>
          <p:cNvSpPr/>
          <p:nvPr/>
        </p:nvSpPr>
        <p:spPr>
          <a:xfrm>
            <a:off x="914400" y="2926080"/>
            <a:ext cx="228600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291840"/>
            <a:ext cx="10058400" cy="1097280"/>
          </a:xfrm>
          <a:prstGeom prst="rect">
            <a:avLst/>
          </a:prstGeom>
          <a:noFill/>
        </p:spPr>
        <p:txBody>
          <a:bodyPr wrap="square">
            <a:spAutoFit/>
          </a:bodyPr>
          <a:lstStyle/>
          <a:p>
            <a:pPr algn="l">
              <a:defRPr sz="3600" b="1" i="0">
                <a:solidFill>
                  <a:srgbClr val="FFFFFF"/>
                </a:solidFill>
                <a:latin typeface="Calibri"/>
              </a:defRPr>
            </a:pPr>
            <a:r>
              <a:t>Kết luận và định hướng phát triển</a:t>
            </a:r>
          </a:p>
        </p:txBody>
      </p:sp>
      <p:sp>
        <p:nvSpPr>
          <p:cNvPr id="6" name="TextBox 5"/>
          <p:cNvSpPr txBox="1"/>
          <p:nvPr/>
        </p:nvSpPr>
        <p:spPr>
          <a:xfrm>
            <a:off x="914400" y="4389120"/>
            <a:ext cx="10058400" cy="548640"/>
          </a:xfrm>
          <a:prstGeom prst="rect">
            <a:avLst/>
          </a:prstGeom>
          <a:noFill/>
        </p:spPr>
        <p:txBody>
          <a:bodyPr wrap="square">
            <a:spAutoFit/>
          </a:bodyPr>
          <a:lstStyle/>
          <a:p>
            <a:pPr algn="l">
              <a:defRPr sz="1800" b="0" i="0">
                <a:solidFill>
                  <a:srgbClr val="CCD5E0"/>
                </a:solidFill>
                <a:latin typeface="Calibri"/>
              </a:defRPr>
            </a:pPr>
            <a:r>
              <a:t>Ý nghĩa, giá trị và tầm nhìn tương lai</a:t>
            </a:r>
          </a:p>
        </p:txBody>
      </p:sp>
      <p:sp>
        <p:nvSpPr>
          <p:cNvPr id="7" name="TextBox 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20 /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Ý nghĩa và giá trị của dự án</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554480"/>
            <a:ext cx="21031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pu.png"/>
          <p:cNvPicPr>
            <a:picLocks noChangeAspect="1"/>
          </p:cNvPicPr>
          <p:nvPr/>
        </p:nvPicPr>
        <p:blipFill>
          <a:blip r:embed="rId2"/>
          <a:stretch>
            <a:fillRect/>
          </a:stretch>
        </p:blipFill>
        <p:spPr>
          <a:xfrm>
            <a:off x="1280160" y="1691640"/>
            <a:ext cx="457200" cy="457200"/>
          </a:xfrm>
          <a:prstGeom prst="rect">
            <a:avLst/>
          </a:prstGeom>
        </p:spPr>
      </p:pic>
      <p:sp>
        <p:nvSpPr>
          <p:cNvPr id="7" name="TextBox 6"/>
          <p:cNvSpPr txBox="1"/>
          <p:nvPr/>
        </p:nvSpPr>
        <p:spPr>
          <a:xfrm>
            <a:off x="548640" y="2194560"/>
            <a:ext cx="1920240" cy="548640"/>
          </a:xfrm>
          <a:prstGeom prst="rect">
            <a:avLst/>
          </a:prstGeom>
          <a:noFill/>
        </p:spPr>
        <p:txBody>
          <a:bodyPr wrap="square">
            <a:spAutoFit/>
          </a:bodyPr>
          <a:lstStyle/>
          <a:p>
            <a:pPr algn="ctr">
              <a:defRPr sz="1600" b="1" i="0">
                <a:solidFill>
                  <a:srgbClr val="1A3C6E"/>
                </a:solidFill>
                <a:latin typeface="Calibri"/>
              </a:defRPr>
            </a:pPr>
            <a:r>
              <a:t>Cá nhân hóa</a:t>
            </a:r>
          </a:p>
        </p:txBody>
      </p:sp>
      <p:sp>
        <p:nvSpPr>
          <p:cNvPr id="8" name="Rectangle 7"/>
          <p:cNvSpPr/>
          <p:nvPr/>
        </p:nvSpPr>
        <p:spPr>
          <a:xfrm>
            <a:off x="98298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880360"/>
            <a:ext cx="1920240" cy="3337560"/>
          </a:xfrm>
          <a:prstGeom prst="rect">
            <a:avLst/>
          </a:prstGeom>
          <a:noFill/>
        </p:spPr>
        <p:txBody>
          <a:bodyPr wrap="square">
            <a:spAutoFit/>
          </a:bodyPr>
          <a:lstStyle/>
          <a:p>
            <a:pPr algn="ctr">
              <a:defRPr sz="1200" b="0" i="0">
                <a:solidFill>
                  <a:srgbClr val="6B7280"/>
                </a:solidFill>
                <a:latin typeface="Calibri"/>
              </a:defRPr>
            </a:pPr>
            <a:r>
              <a:t>Không còn lo lắng "không biết</a:t>
            </a:r>
            <a:br/>
            <a:r>
              <a:t>đọc sách gì" — AI thấu hiểu</a:t>
            </a:r>
            <a:br/>
            <a:r>
              <a:t>và gợi ý sách phù hợp</a:t>
            </a:r>
          </a:p>
        </p:txBody>
      </p:sp>
      <p:sp>
        <p:nvSpPr>
          <p:cNvPr id="10" name="Rectangle 9"/>
          <p:cNvSpPr/>
          <p:nvPr/>
        </p:nvSpPr>
        <p:spPr>
          <a:xfrm>
            <a:off x="82296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34640" y="1554480"/>
            <a:ext cx="21031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zap.png"/>
          <p:cNvPicPr>
            <a:picLocks noChangeAspect="1"/>
          </p:cNvPicPr>
          <p:nvPr/>
        </p:nvPicPr>
        <p:blipFill>
          <a:blip r:embed="rId3"/>
          <a:stretch>
            <a:fillRect/>
          </a:stretch>
        </p:blipFill>
        <p:spPr>
          <a:xfrm>
            <a:off x="3657600" y="1691640"/>
            <a:ext cx="457200" cy="457200"/>
          </a:xfrm>
          <a:prstGeom prst="rect">
            <a:avLst/>
          </a:prstGeom>
        </p:spPr>
      </p:pic>
      <p:sp>
        <p:nvSpPr>
          <p:cNvPr id="13" name="TextBox 12"/>
          <p:cNvSpPr txBox="1"/>
          <p:nvPr/>
        </p:nvSpPr>
        <p:spPr>
          <a:xfrm>
            <a:off x="2926080" y="2194560"/>
            <a:ext cx="1920240" cy="548640"/>
          </a:xfrm>
          <a:prstGeom prst="rect">
            <a:avLst/>
          </a:prstGeom>
          <a:noFill/>
        </p:spPr>
        <p:txBody>
          <a:bodyPr wrap="square">
            <a:spAutoFit/>
          </a:bodyPr>
          <a:lstStyle/>
          <a:p>
            <a:pPr algn="ctr">
              <a:defRPr sz="1600" b="1" i="0">
                <a:solidFill>
                  <a:srgbClr val="1A3C6E"/>
                </a:solidFill>
                <a:latin typeface="Calibri"/>
              </a:defRPr>
            </a:pPr>
            <a:r>
              <a:t>Động lực bền vững</a:t>
            </a:r>
          </a:p>
        </p:txBody>
      </p:sp>
      <p:sp>
        <p:nvSpPr>
          <p:cNvPr id="14" name="Rectangle 13"/>
          <p:cNvSpPr/>
          <p:nvPr/>
        </p:nvSpPr>
        <p:spPr>
          <a:xfrm>
            <a:off x="336042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26080" y="2880360"/>
            <a:ext cx="1920240" cy="3337560"/>
          </a:xfrm>
          <a:prstGeom prst="rect">
            <a:avLst/>
          </a:prstGeom>
          <a:noFill/>
        </p:spPr>
        <p:txBody>
          <a:bodyPr wrap="square">
            <a:spAutoFit/>
          </a:bodyPr>
          <a:lstStyle/>
          <a:p>
            <a:pPr algn="ctr">
              <a:defRPr sz="1200" b="0" i="0">
                <a:solidFill>
                  <a:srgbClr val="6B7280"/>
                </a:solidFill>
                <a:latin typeface="Calibri"/>
              </a:defRPr>
            </a:pPr>
            <a:r>
              <a:t>Nhiệm vụ, thử thách, danh hiệu</a:t>
            </a:r>
            <a:br/>
            <a:r>
              <a:t>và bảng xếp hạng tạo động lực</a:t>
            </a:r>
            <a:br/>
            <a:r>
              <a:t>đọc sách lâu dài</a:t>
            </a:r>
          </a:p>
        </p:txBody>
      </p:sp>
      <p:sp>
        <p:nvSpPr>
          <p:cNvPr id="16" name="Rectangle 15"/>
          <p:cNvSpPr/>
          <p:nvPr/>
        </p:nvSpPr>
        <p:spPr>
          <a:xfrm>
            <a:off x="320040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212080" y="1554480"/>
            <a:ext cx="21031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clock.png"/>
          <p:cNvPicPr>
            <a:picLocks noChangeAspect="1"/>
          </p:cNvPicPr>
          <p:nvPr/>
        </p:nvPicPr>
        <p:blipFill>
          <a:blip r:embed="rId4"/>
          <a:stretch>
            <a:fillRect/>
          </a:stretch>
        </p:blipFill>
        <p:spPr>
          <a:xfrm>
            <a:off x="6035040" y="1691640"/>
            <a:ext cx="457200" cy="457200"/>
          </a:xfrm>
          <a:prstGeom prst="rect">
            <a:avLst/>
          </a:prstGeom>
        </p:spPr>
      </p:pic>
      <p:sp>
        <p:nvSpPr>
          <p:cNvPr id="19" name="TextBox 18"/>
          <p:cNvSpPr txBox="1"/>
          <p:nvPr/>
        </p:nvSpPr>
        <p:spPr>
          <a:xfrm>
            <a:off x="5303520" y="2194560"/>
            <a:ext cx="1920240" cy="548640"/>
          </a:xfrm>
          <a:prstGeom prst="rect">
            <a:avLst/>
          </a:prstGeom>
          <a:noFill/>
        </p:spPr>
        <p:txBody>
          <a:bodyPr wrap="square">
            <a:spAutoFit/>
          </a:bodyPr>
          <a:lstStyle/>
          <a:p>
            <a:pPr algn="ctr">
              <a:defRPr sz="1600" b="1" i="0">
                <a:solidFill>
                  <a:srgbClr val="1A3C6E"/>
                </a:solidFill>
                <a:latin typeface="Calibri"/>
              </a:defRPr>
            </a:pPr>
            <a:r>
              <a:t>Thói quen khoa học</a:t>
            </a:r>
          </a:p>
        </p:txBody>
      </p:sp>
      <p:sp>
        <p:nvSpPr>
          <p:cNvPr id="20" name="Rectangle 19"/>
          <p:cNvSpPr/>
          <p:nvPr/>
        </p:nvSpPr>
        <p:spPr>
          <a:xfrm>
            <a:off x="573786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0" y="2880360"/>
            <a:ext cx="1920240" cy="3337560"/>
          </a:xfrm>
          <a:prstGeom prst="rect">
            <a:avLst/>
          </a:prstGeom>
          <a:noFill/>
        </p:spPr>
        <p:txBody>
          <a:bodyPr wrap="square">
            <a:spAutoFit/>
          </a:bodyPr>
          <a:lstStyle/>
          <a:p>
            <a:pPr algn="ctr">
              <a:defRPr sz="1200" b="0" i="0">
                <a:solidFill>
                  <a:srgbClr val="6B7280"/>
                </a:solidFill>
                <a:latin typeface="Calibri"/>
              </a:defRPr>
            </a:pPr>
            <a:r>
              <a:t>Pomodoro + theo dõi chuỗi ngày</a:t>
            </a:r>
            <a:br/>
            <a:r>
              <a:t>giúp hình thành thói quen</a:t>
            </a:r>
            <a:br/>
            <a:r>
              <a:t>đọc đều đặn, có kỷ luật</a:t>
            </a:r>
          </a:p>
        </p:txBody>
      </p:sp>
      <p:sp>
        <p:nvSpPr>
          <p:cNvPr id="22" name="Rectangle 21"/>
          <p:cNvSpPr/>
          <p:nvPr/>
        </p:nvSpPr>
        <p:spPr>
          <a:xfrm>
            <a:off x="557784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89520" y="1554480"/>
            <a:ext cx="21031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globe.png"/>
          <p:cNvPicPr>
            <a:picLocks noChangeAspect="1"/>
          </p:cNvPicPr>
          <p:nvPr/>
        </p:nvPicPr>
        <p:blipFill>
          <a:blip r:embed="rId5"/>
          <a:stretch>
            <a:fillRect/>
          </a:stretch>
        </p:blipFill>
        <p:spPr>
          <a:xfrm>
            <a:off x="8412480" y="1691640"/>
            <a:ext cx="457200" cy="457200"/>
          </a:xfrm>
          <a:prstGeom prst="rect">
            <a:avLst/>
          </a:prstGeom>
        </p:spPr>
      </p:pic>
      <p:sp>
        <p:nvSpPr>
          <p:cNvPr id="25" name="TextBox 24"/>
          <p:cNvSpPr txBox="1"/>
          <p:nvPr/>
        </p:nvSpPr>
        <p:spPr>
          <a:xfrm>
            <a:off x="7680960" y="2194560"/>
            <a:ext cx="1920240" cy="548640"/>
          </a:xfrm>
          <a:prstGeom prst="rect">
            <a:avLst/>
          </a:prstGeom>
          <a:noFill/>
        </p:spPr>
        <p:txBody>
          <a:bodyPr wrap="square">
            <a:spAutoFit/>
          </a:bodyPr>
          <a:lstStyle/>
          <a:p>
            <a:pPr algn="ctr">
              <a:defRPr sz="1600" b="1" i="0">
                <a:solidFill>
                  <a:srgbClr val="1A3C6E"/>
                </a:solidFill>
                <a:latin typeface="Calibri"/>
              </a:defRPr>
            </a:pPr>
            <a:r>
              <a:t>Cộng đồng gắn kết</a:t>
            </a:r>
          </a:p>
        </p:txBody>
      </p:sp>
      <p:sp>
        <p:nvSpPr>
          <p:cNvPr id="26" name="Rectangle 25"/>
          <p:cNvSpPr/>
          <p:nvPr/>
        </p:nvSpPr>
        <p:spPr>
          <a:xfrm>
            <a:off x="811530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0" y="2880360"/>
            <a:ext cx="1920240" cy="3337560"/>
          </a:xfrm>
          <a:prstGeom prst="rect">
            <a:avLst/>
          </a:prstGeom>
          <a:noFill/>
        </p:spPr>
        <p:txBody>
          <a:bodyPr wrap="square">
            <a:spAutoFit/>
          </a:bodyPr>
          <a:lstStyle/>
          <a:p>
            <a:pPr algn="ctr">
              <a:defRPr sz="1200" b="0" i="0">
                <a:solidFill>
                  <a:srgbClr val="6B7280"/>
                </a:solidFill>
                <a:latin typeface="Calibri"/>
              </a:defRPr>
            </a:pPr>
            <a:r>
              <a:t>Bảng xếp hạng và thử thách</a:t>
            </a:r>
            <a:br/>
            <a:r>
              <a:t>chung tạo nên cộng đồng đọc</a:t>
            </a:r>
            <a:br/>
            <a:r>
              <a:t>năng động, tích cực</a:t>
            </a:r>
          </a:p>
        </p:txBody>
      </p:sp>
      <p:sp>
        <p:nvSpPr>
          <p:cNvPr id="28" name="Rectangle 27"/>
          <p:cNvSpPr/>
          <p:nvPr/>
        </p:nvSpPr>
        <p:spPr>
          <a:xfrm>
            <a:off x="795528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966960" y="1554480"/>
            <a:ext cx="2103120" cy="47548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book.png"/>
          <p:cNvPicPr>
            <a:picLocks noChangeAspect="1"/>
          </p:cNvPicPr>
          <p:nvPr/>
        </p:nvPicPr>
        <p:blipFill>
          <a:blip r:embed="rId6"/>
          <a:stretch>
            <a:fillRect/>
          </a:stretch>
        </p:blipFill>
        <p:spPr>
          <a:xfrm>
            <a:off x="10789920" y="1691640"/>
            <a:ext cx="457200" cy="457200"/>
          </a:xfrm>
          <a:prstGeom prst="rect">
            <a:avLst/>
          </a:prstGeom>
        </p:spPr>
      </p:pic>
      <p:sp>
        <p:nvSpPr>
          <p:cNvPr id="31" name="TextBox 30"/>
          <p:cNvSpPr txBox="1"/>
          <p:nvPr/>
        </p:nvSpPr>
        <p:spPr>
          <a:xfrm>
            <a:off x="10058400" y="2194560"/>
            <a:ext cx="1920240" cy="548640"/>
          </a:xfrm>
          <a:prstGeom prst="rect">
            <a:avLst/>
          </a:prstGeom>
          <a:noFill/>
        </p:spPr>
        <p:txBody>
          <a:bodyPr wrap="square">
            <a:spAutoFit/>
          </a:bodyPr>
          <a:lstStyle/>
          <a:p>
            <a:pPr algn="ctr">
              <a:defRPr sz="1600" b="1" i="0">
                <a:solidFill>
                  <a:srgbClr val="1A3C6E"/>
                </a:solidFill>
                <a:latin typeface="Calibri"/>
              </a:defRPr>
            </a:pPr>
            <a:r>
              <a:t>Tri thức rộng mở</a:t>
            </a:r>
          </a:p>
        </p:txBody>
      </p:sp>
      <p:sp>
        <p:nvSpPr>
          <p:cNvPr id="32" name="Rectangle 31"/>
          <p:cNvSpPr/>
          <p:nvPr/>
        </p:nvSpPr>
        <p:spPr>
          <a:xfrm>
            <a:off x="1049274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0" y="2880360"/>
            <a:ext cx="1920240" cy="3337560"/>
          </a:xfrm>
          <a:prstGeom prst="rect">
            <a:avLst/>
          </a:prstGeom>
          <a:noFill/>
        </p:spPr>
        <p:txBody>
          <a:bodyPr wrap="square">
            <a:spAutoFit/>
          </a:bodyPr>
          <a:lstStyle/>
          <a:p>
            <a:pPr algn="ctr">
              <a:defRPr sz="1200" b="0" i="0">
                <a:solidFill>
                  <a:srgbClr val="6B7280"/>
                </a:solidFill>
                <a:latin typeface="Calibri"/>
              </a:defRPr>
            </a:pPr>
            <a:r>
              <a:t>Thư viện trực tuyến với đa dạng</a:t>
            </a:r>
            <a:br/>
            <a:r>
              <a:t>thể loại — dễ dàng tiếp cận</a:t>
            </a:r>
            <a:br/>
            <a:r>
              <a:t>nhiều lĩnh vực khác nhau</a:t>
            </a:r>
          </a:p>
        </p:txBody>
      </p:sp>
      <p:sp>
        <p:nvSpPr>
          <p:cNvPr id="34" name="Rectangle 33"/>
          <p:cNvSpPr/>
          <p:nvPr/>
        </p:nvSpPr>
        <p:spPr>
          <a:xfrm>
            <a:off x="1033272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21 / 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9144000" cy="640080"/>
          </a:xfrm>
          <a:prstGeom prst="rect">
            <a:avLst/>
          </a:prstGeom>
          <a:noFill/>
        </p:spPr>
        <p:txBody>
          <a:bodyPr wrap="square">
            <a:spAutoFit/>
          </a:bodyPr>
          <a:lstStyle/>
          <a:p>
            <a:pPr algn="l">
              <a:defRPr sz="2800" b="1" i="0">
                <a:solidFill>
                  <a:srgbClr val="FFFFFF"/>
                </a:solidFill>
                <a:latin typeface="Calibri"/>
              </a:defRPr>
            </a:pPr>
            <a:r>
              <a:t>Tầm nhìn tương lai</a:t>
            </a:r>
          </a:p>
        </p:txBody>
      </p:sp>
      <p:sp>
        <p:nvSpPr>
          <p:cNvPr id="4" name="Rectangle 3"/>
          <p:cNvSpPr/>
          <p:nvPr/>
        </p:nvSpPr>
        <p:spPr>
          <a:xfrm>
            <a:off x="0" y="6720840"/>
            <a:ext cx="12191695" cy="1371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554480"/>
            <a:ext cx="210312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ook.png"/>
          <p:cNvPicPr>
            <a:picLocks noChangeAspect="1"/>
          </p:cNvPicPr>
          <p:nvPr/>
        </p:nvPicPr>
        <p:blipFill>
          <a:blip r:embed="rId2"/>
          <a:stretch>
            <a:fillRect/>
          </a:stretch>
        </p:blipFill>
        <p:spPr>
          <a:xfrm>
            <a:off x="1280160" y="1691640"/>
            <a:ext cx="457200" cy="457200"/>
          </a:xfrm>
          <a:prstGeom prst="rect">
            <a:avLst/>
          </a:prstGeom>
        </p:spPr>
      </p:pic>
      <p:sp>
        <p:nvSpPr>
          <p:cNvPr id="7" name="TextBox 6"/>
          <p:cNvSpPr txBox="1"/>
          <p:nvPr/>
        </p:nvSpPr>
        <p:spPr>
          <a:xfrm>
            <a:off x="548640" y="2194560"/>
            <a:ext cx="1920240" cy="548640"/>
          </a:xfrm>
          <a:prstGeom prst="rect">
            <a:avLst/>
          </a:prstGeom>
          <a:noFill/>
        </p:spPr>
        <p:txBody>
          <a:bodyPr wrap="square">
            <a:spAutoFit/>
          </a:bodyPr>
          <a:lstStyle/>
          <a:p>
            <a:pPr algn="ctr">
              <a:defRPr sz="1500" b="1" i="0">
                <a:solidFill>
                  <a:srgbClr val="1A3C6E"/>
                </a:solidFill>
                <a:latin typeface="Calibri"/>
              </a:defRPr>
            </a:pPr>
            <a:r>
              <a:t>Mở rộng kho sách</a:t>
            </a:r>
          </a:p>
        </p:txBody>
      </p:sp>
      <p:sp>
        <p:nvSpPr>
          <p:cNvPr id="8" name="Rectangle 7"/>
          <p:cNvSpPr/>
          <p:nvPr/>
        </p:nvSpPr>
        <p:spPr>
          <a:xfrm>
            <a:off x="98298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880360"/>
            <a:ext cx="1920240" cy="2697480"/>
          </a:xfrm>
          <a:prstGeom prst="rect">
            <a:avLst/>
          </a:prstGeom>
          <a:noFill/>
        </p:spPr>
        <p:txBody>
          <a:bodyPr wrap="square">
            <a:spAutoFit/>
          </a:bodyPr>
          <a:lstStyle/>
          <a:p>
            <a:pPr algn="ctr">
              <a:defRPr sz="1200" b="0" i="0">
                <a:solidFill>
                  <a:srgbClr val="6B7280"/>
                </a:solidFill>
                <a:latin typeface="Calibri"/>
              </a:defRPr>
            </a:pPr>
            <a:r>
              <a:t>Hàng ngàn đầu sách chất lượng</a:t>
            </a:r>
            <a:br/>
            <a:r>
              <a:t>từ nhiều nhà xuất bản uy tín</a:t>
            </a:r>
          </a:p>
        </p:txBody>
      </p:sp>
      <p:sp>
        <p:nvSpPr>
          <p:cNvPr id="10" name="Rectangle 9"/>
          <p:cNvSpPr/>
          <p:nvPr/>
        </p:nvSpPr>
        <p:spPr>
          <a:xfrm>
            <a:off x="82296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34640" y="1554480"/>
            <a:ext cx="210312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users.png"/>
          <p:cNvPicPr>
            <a:picLocks noChangeAspect="1"/>
          </p:cNvPicPr>
          <p:nvPr/>
        </p:nvPicPr>
        <p:blipFill>
          <a:blip r:embed="rId3"/>
          <a:stretch>
            <a:fillRect/>
          </a:stretch>
        </p:blipFill>
        <p:spPr>
          <a:xfrm>
            <a:off x="3657600" y="1691640"/>
            <a:ext cx="457200" cy="457200"/>
          </a:xfrm>
          <a:prstGeom prst="rect">
            <a:avLst/>
          </a:prstGeom>
        </p:spPr>
      </p:pic>
      <p:sp>
        <p:nvSpPr>
          <p:cNvPr id="13" name="TextBox 12"/>
          <p:cNvSpPr txBox="1"/>
          <p:nvPr/>
        </p:nvSpPr>
        <p:spPr>
          <a:xfrm>
            <a:off x="2926080" y="2194560"/>
            <a:ext cx="1920240" cy="548640"/>
          </a:xfrm>
          <a:prstGeom prst="rect">
            <a:avLst/>
          </a:prstGeom>
          <a:noFill/>
        </p:spPr>
        <p:txBody>
          <a:bodyPr wrap="square">
            <a:spAutoFit/>
          </a:bodyPr>
          <a:lstStyle/>
          <a:p>
            <a:pPr algn="ctr">
              <a:defRPr sz="1500" b="1" i="0">
                <a:solidFill>
                  <a:srgbClr val="1A3C6E"/>
                </a:solidFill>
                <a:latin typeface="Calibri"/>
              </a:defRPr>
            </a:pPr>
            <a:r>
              <a:t>Gợi ý sách theo nhóm</a:t>
            </a:r>
          </a:p>
        </p:txBody>
      </p:sp>
      <p:sp>
        <p:nvSpPr>
          <p:cNvPr id="14" name="Rectangle 13"/>
          <p:cNvSpPr/>
          <p:nvPr/>
        </p:nvSpPr>
        <p:spPr>
          <a:xfrm>
            <a:off x="336042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26080" y="2880360"/>
            <a:ext cx="1920240" cy="2697480"/>
          </a:xfrm>
          <a:prstGeom prst="rect">
            <a:avLst/>
          </a:prstGeom>
          <a:noFill/>
        </p:spPr>
        <p:txBody>
          <a:bodyPr wrap="square">
            <a:spAutoFit/>
          </a:bodyPr>
          <a:lstStyle/>
          <a:p>
            <a:pPr algn="ctr">
              <a:defRPr sz="1200" b="0" i="0">
                <a:solidFill>
                  <a:srgbClr val="6B7280"/>
                </a:solidFill>
                <a:latin typeface="Calibri"/>
              </a:defRPr>
            </a:pPr>
            <a:r>
              <a:t>Bạn bè cùng khám phá và thảo</a:t>
            </a:r>
            <a:br/>
            <a:r>
              <a:t>luận về sách, chia sẻ cảm nhận</a:t>
            </a:r>
          </a:p>
        </p:txBody>
      </p:sp>
      <p:sp>
        <p:nvSpPr>
          <p:cNvPr id="16" name="Rectangle 15"/>
          <p:cNvSpPr/>
          <p:nvPr/>
        </p:nvSpPr>
        <p:spPr>
          <a:xfrm>
            <a:off x="320040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212080" y="1554480"/>
            <a:ext cx="210312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mic.png"/>
          <p:cNvPicPr>
            <a:picLocks noChangeAspect="1"/>
          </p:cNvPicPr>
          <p:nvPr/>
        </p:nvPicPr>
        <p:blipFill>
          <a:blip r:embed="rId4"/>
          <a:stretch>
            <a:fillRect/>
          </a:stretch>
        </p:blipFill>
        <p:spPr>
          <a:xfrm>
            <a:off x="6035040" y="1691640"/>
            <a:ext cx="457200" cy="457200"/>
          </a:xfrm>
          <a:prstGeom prst="rect">
            <a:avLst/>
          </a:prstGeom>
        </p:spPr>
      </p:pic>
      <p:sp>
        <p:nvSpPr>
          <p:cNvPr id="19" name="TextBox 18"/>
          <p:cNvSpPr txBox="1"/>
          <p:nvPr/>
        </p:nvSpPr>
        <p:spPr>
          <a:xfrm>
            <a:off x="5303520" y="2194560"/>
            <a:ext cx="1920240" cy="548640"/>
          </a:xfrm>
          <a:prstGeom prst="rect">
            <a:avLst/>
          </a:prstGeom>
          <a:noFill/>
        </p:spPr>
        <p:txBody>
          <a:bodyPr wrap="square">
            <a:spAutoFit/>
          </a:bodyPr>
          <a:lstStyle/>
          <a:p>
            <a:pPr algn="ctr">
              <a:defRPr sz="1500" b="1" i="0">
                <a:solidFill>
                  <a:srgbClr val="1A3C6E"/>
                </a:solidFill>
                <a:latin typeface="Calibri"/>
              </a:defRPr>
            </a:pPr>
            <a:r>
              <a:t>AI đàm thoại</a:t>
            </a:r>
          </a:p>
        </p:txBody>
      </p:sp>
      <p:sp>
        <p:nvSpPr>
          <p:cNvPr id="20" name="Rectangle 19"/>
          <p:cNvSpPr/>
          <p:nvPr/>
        </p:nvSpPr>
        <p:spPr>
          <a:xfrm>
            <a:off x="573786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0" y="2880360"/>
            <a:ext cx="1920240" cy="2697480"/>
          </a:xfrm>
          <a:prstGeom prst="rect">
            <a:avLst/>
          </a:prstGeom>
          <a:noFill/>
        </p:spPr>
        <p:txBody>
          <a:bodyPr wrap="square">
            <a:spAutoFit/>
          </a:bodyPr>
          <a:lstStyle/>
          <a:p>
            <a:pPr algn="ctr">
              <a:defRPr sz="1200" b="0" i="0">
                <a:solidFill>
                  <a:srgbClr val="6B7280"/>
                </a:solidFill>
                <a:latin typeface="Calibri"/>
              </a:defRPr>
            </a:pPr>
            <a:r>
              <a:t>Trò chuyện trực tiếp với AI về</a:t>
            </a:r>
            <a:br/>
            <a:r>
              <a:t>nội dung sách, nhân vật, chủ đề</a:t>
            </a:r>
          </a:p>
        </p:txBody>
      </p:sp>
      <p:sp>
        <p:nvSpPr>
          <p:cNvPr id="22" name="Rectangle 21"/>
          <p:cNvSpPr/>
          <p:nvPr/>
        </p:nvSpPr>
        <p:spPr>
          <a:xfrm>
            <a:off x="557784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89520" y="1554480"/>
            <a:ext cx="210312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school.png"/>
          <p:cNvPicPr>
            <a:picLocks noChangeAspect="1"/>
          </p:cNvPicPr>
          <p:nvPr/>
        </p:nvPicPr>
        <p:blipFill>
          <a:blip r:embed="rId5"/>
          <a:stretch>
            <a:fillRect/>
          </a:stretch>
        </p:blipFill>
        <p:spPr>
          <a:xfrm>
            <a:off x="8412480" y="1691640"/>
            <a:ext cx="457200" cy="457200"/>
          </a:xfrm>
          <a:prstGeom prst="rect">
            <a:avLst/>
          </a:prstGeom>
        </p:spPr>
      </p:pic>
      <p:sp>
        <p:nvSpPr>
          <p:cNvPr id="25" name="TextBox 24"/>
          <p:cNvSpPr txBox="1"/>
          <p:nvPr/>
        </p:nvSpPr>
        <p:spPr>
          <a:xfrm>
            <a:off x="7680960" y="2194560"/>
            <a:ext cx="1920240" cy="548640"/>
          </a:xfrm>
          <a:prstGeom prst="rect">
            <a:avLst/>
          </a:prstGeom>
          <a:noFill/>
        </p:spPr>
        <p:txBody>
          <a:bodyPr wrap="square">
            <a:spAutoFit/>
          </a:bodyPr>
          <a:lstStyle/>
          <a:p>
            <a:pPr algn="ctr">
              <a:defRPr sz="1500" b="1" i="0">
                <a:solidFill>
                  <a:srgbClr val="1A3C6E"/>
                </a:solidFill>
                <a:latin typeface="Calibri"/>
              </a:defRPr>
            </a:pPr>
            <a:r>
              <a:t>Mở rộng trường học</a:t>
            </a:r>
          </a:p>
        </p:txBody>
      </p:sp>
      <p:sp>
        <p:nvSpPr>
          <p:cNvPr id="26" name="Rectangle 25"/>
          <p:cNvSpPr/>
          <p:nvPr/>
        </p:nvSpPr>
        <p:spPr>
          <a:xfrm>
            <a:off x="811530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0" y="2880360"/>
            <a:ext cx="1920240" cy="2697480"/>
          </a:xfrm>
          <a:prstGeom prst="rect">
            <a:avLst/>
          </a:prstGeom>
          <a:noFill/>
        </p:spPr>
        <p:txBody>
          <a:bodyPr wrap="square">
            <a:spAutoFit/>
          </a:bodyPr>
          <a:lstStyle/>
          <a:p>
            <a:pPr algn="ctr">
              <a:defRPr sz="1200" b="0" i="0">
                <a:solidFill>
                  <a:srgbClr val="6B7280"/>
                </a:solidFill>
                <a:latin typeface="Calibri"/>
              </a:defRPr>
            </a:pPr>
            <a:r>
              <a:t>Kết nối các trường đại học trên</a:t>
            </a:r>
            <a:br/>
            <a:r>
              <a:t>cả nước — mạng lưới văn hóa đọc</a:t>
            </a:r>
            <a:br/>
            <a:r>
              <a:t>rộng khắp</a:t>
            </a:r>
          </a:p>
        </p:txBody>
      </p:sp>
      <p:sp>
        <p:nvSpPr>
          <p:cNvPr id="28" name="Rectangle 27"/>
          <p:cNvSpPr/>
          <p:nvPr/>
        </p:nvSpPr>
        <p:spPr>
          <a:xfrm>
            <a:off x="795528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966960" y="1554480"/>
            <a:ext cx="210312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phone.png"/>
          <p:cNvPicPr>
            <a:picLocks noChangeAspect="1"/>
          </p:cNvPicPr>
          <p:nvPr/>
        </p:nvPicPr>
        <p:blipFill>
          <a:blip r:embed="rId6"/>
          <a:stretch>
            <a:fillRect/>
          </a:stretch>
        </p:blipFill>
        <p:spPr>
          <a:xfrm>
            <a:off x="10789920" y="1691640"/>
            <a:ext cx="457200" cy="457200"/>
          </a:xfrm>
          <a:prstGeom prst="rect">
            <a:avLst/>
          </a:prstGeom>
        </p:spPr>
      </p:pic>
      <p:sp>
        <p:nvSpPr>
          <p:cNvPr id="31" name="TextBox 30"/>
          <p:cNvSpPr txBox="1"/>
          <p:nvPr/>
        </p:nvSpPr>
        <p:spPr>
          <a:xfrm>
            <a:off x="10058400" y="2194560"/>
            <a:ext cx="1920240" cy="548640"/>
          </a:xfrm>
          <a:prstGeom prst="rect">
            <a:avLst/>
          </a:prstGeom>
          <a:noFill/>
        </p:spPr>
        <p:txBody>
          <a:bodyPr wrap="square">
            <a:spAutoFit/>
          </a:bodyPr>
          <a:lstStyle/>
          <a:p>
            <a:pPr algn="ctr">
              <a:defRPr sz="1500" b="1" i="0">
                <a:solidFill>
                  <a:srgbClr val="1A3C6E"/>
                </a:solidFill>
                <a:latin typeface="Calibri"/>
              </a:defRPr>
            </a:pPr>
            <a:r>
              <a:t>Ứng dụng di động</a:t>
            </a:r>
          </a:p>
        </p:txBody>
      </p:sp>
      <p:sp>
        <p:nvSpPr>
          <p:cNvPr id="32" name="Rectangle 31"/>
          <p:cNvSpPr/>
          <p:nvPr/>
        </p:nvSpPr>
        <p:spPr>
          <a:xfrm>
            <a:off x="10492740" y="2743200"/>
            <a:ext cx="105156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0" y="2880360"/>
            <a:ext cx="1920240" cy="2697480"/>
          </a:xfrm>
          <a:prstGeom prst="rect">
            <a:avLst/>
          </a:prstGeom>
          <a:noFill/>
        </p:spPr>
        <p:txBody>
          <a:bodyPr wrap="square">
            <a:spAutoFit/>
          </a:bodyPr>
          <a:lstStyle/>
          <a:p>
            <a:pPr algn="ctr">
              <a:defRPr sz="1200" b="0" i="0">
                <a:solidFill>
                  <a:srgbClr val="6B7280"/>
                </a:solidFill>
                <a:latin typeface="Calibri"/>
              </a:defRPr>
            </a:pPr>
            <a:r>
              <a:t>Đọc sách mọi lúc, mọi nơi</a:t>
            </a:r>
            <a:br/>
            <a:r>
              <a:t>với ứng dụng trên điện thoại</a:t>
            </a:r>
          </a:p>
        </p:txBody>
      </p:sp>
      <p:sp>
        <p:nvSpPr>
          <p:cNvPr id="34" name="Rectangle 33"/>
          <p:cNvSpPr/>
          <p:nvPr/>
        </p:nvSpPr>
        <p:spPr>
          <a:xfrm>
            <a:off x="10332720" y="2834640"/>
            <a:ext cx="1371600" cy="27432"/>
          </a:xfrm>
          <a:prstGeom prst="rect">
            <a:avLst/>
          </a:prstGeom>
          <a:solidFill>
            <a:srgbClr val="2D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31520" y="5943600"/>
            <a:ext cx="1069848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5989320"/>
            <a:ext cx="10332720" cy="502920"/>
          </a:xfrm>
          <a:prstGeom prst="rect">
            <a:avLst/>
          </a:prstGeom>
          <a:noFill/>
        </p:spPr>
        <p:txBody>
          <a:bodyPr wrap="square">
            <a:spAutoFit/>
          </a:bodyPr>
          <a:lstStyle/>
          <a:p>
            <a:pPr algn="ctr">
              <a:defRPr sz="1400" b="1" i="0">
                <a:solidFill>
                  <a:srgbClr val="FFFFFF"/>
                </a:solidFill>
                <a:latin typeface="Calibri"/>
              </a:defRPr>
            </a:pPr>
            <a:r>
              <a:t>Tầm nhìn: Trở thành nền tảng đồng hành đọc sách hàng đầu cho sinh viên Việt Nam</a:t>
            </a:r>
          </a:p>
        </p:txBody>
      </p:sp>
      <p:sp>
        <p:nvSpPr>
          <p:cNvPr id="37" name="TextBox 36"/>
          <p:cNvSpPr txBox="1"/>
          <p:nvPr/>
        </p:nvSpPr>
        <p:spPr>
          <a:xfrm>
            <a:off x="11094415" y="6400800"/>
            <a:ext cx="914400" cy="365760"/>
          </a:xfrm>
          <a:prstGeom prst="rect">
            <a:avLst/>
          </a:prstGeom>
          <a:noFill/>
        </p:spPr>
        <p:txBody>
          <a:bodyPr wrap="square">
            <a:spAutoFit/>
          </a:bodyPr>
          <a:lstStyle/>
          <a:p>
            <a:pPr algn="r">
              <a:defRPr sz="1000" b="0" i="0">
                <a:solidFill>
                  <a:srgbClr val="6B7280"/>
                </a:solidFill>
                <a:latin typeface="Calibri"/>
              </a:defRPr>
            </a:pPr>
            <a:r>
              <a:t>22 / 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371600"/>
            <a:ext cx="9144000" cy="914400"/>
          </a:xfrm>
          <a:prstGeom prst="rect">
            <a:avLst/>
          </a:prstGeom>
          <a:noFill/>
        </p:spPr>
        <p:txBody>
          <a:bodyPr wrap="square">
            <a:spAutoFit/>
          </a:bodyPr>
          <a:lstStyle/>
          <a:p>
            <a:pPr algn="ctr">
              <a:defRPr sz="5600" b="1" i="0">
                <a:solidFill>
                  <a:srgbClr val="FFFFFF"/>
                </a:solidFill>
                <a:latin typeface="Calibri"/>
              </a:defRPr>
            </a:pPr>
            <a:r>
              <a:t>Cảm ơn!</a:t>
            </a:r>
          </a:p>
        </p:txBody>
      </p:sp>
      <p:sp>
        <p:nvSpPr>
          <p:cNvPr id="4" name="Rectangle 3"/>
          <p:cNvSpPr/>
          <p:nvPr/>
        </p:nvSpPr>
        <p:spPr>
          <a:xfrm>
            <a:off x="5029200" y="2468880"/>
            <a:ext cx="21031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834640"/>
            <a:ext cx="9144000" cy="914400"/>
          </a:xfrm>
          <a:prstGeom prst="rect">
            <a:avLst/>
          </a:prstGeom>
          <a:noFill/>
        </p:spPr>
        <p:txBody>
          <a:bodyPr wrap="square">
            <a:spAutoFit/>
          </a:bodyPr>
          <a:lstStyle/>
          <a:p>
            <a:pPr algn="ctr">
              <a:defRPr sz="2800" b="1" i="0">
                <a:solidFill>
                  <a:srgbClr val="FFFFFF"/>
                </a:solidFill>
                <a:latin typeface="Calibri"/>
              </a:defRPr>
            </a:pPr>
            <a:r>
              <a:t>BOOK MATCH — AI Đồng Hành Cùng Văn Hóa Đọc</a:t>
            </a:r>
          </a:p>
        </p:txBody>
      </p:sp>
      <p:sp>
        <p:nvSpPr>
          <p:cNvPr id="6" name="TextBox 5"/>
          <p:cNvSpPr txBox="1"/>
          <p:nvPr/>
        </p:nvSpPr>
        <p:spPr>
          <a:xfrm>
            <a:off x="1828800" y="3931920"/>
            <a:ext cx="8229600" cy="731520"/>
          </a:xfrm>
          <a:prstGeom prst="rect">
            <a:avLst/>
          </a:prstGeom>
          <a:noFill/>
        </p:spPr>
        <p:txBody>
          <a:bodyPr wrap="square">
            <a:spAutoFit/>
          </a:bodyPr>
          <a:lstStyle/>
          <a:p>
            <a:pPr algn="ctr">
              <a:defRPr sz="1800" b="0" i="1">
                <a:solidFill>
                  <a:srgbClr val="CCD5E0"/>
                </a:solidFill>
                <a:latin typeface="Calibri"/>
              </a:defRPr>
            </a:pPr>
            <a:r>
              <a:t>"Sách là ánh sáng dẫn đường cho tri thức</a:t>
            </a:r>
            <a:br/>
            <a:r>
              <a:t>AI là người bạn đồng hành trên con đường ấy"</a:t>
            </a:r>
          </a:p>
        </p:txBody>
      </p:sp>
      <p:sp>
        <p:nvSpPr>
          <p:cNvPr id="7" name="TextBox 6"/>
          <p:cNvSpPr txBox="1"/>
          <p:nvPr/>
        </p:nvSpPr>
        <p:spPr>
          <a:xfrm>
            <a:off x="2743200" y="5029200"/>
            <a:ext cx="6400800" cy="457200"/>
          </a:xfrm>
          <a:prstGeom prst="rect">
            <a:avLst/>
          </a:prstGeom>
          <a:noFill/>
        </p:spPr>
        <p:txBody>
          <a:bodyPr wrap="square">
            <a:spAutoFit/>
          </a:bodyPr>
          <a:lstStyle/>
          <a:p>
            <a:pPr algn="ctr">
              <a:defRPr sz="1400" b="0" i="0">
                <a:solidFill>
                  <a:srgbClr val="99AABB"/>
                </a:solidFill>
                <a:latin typeface="Calibri"/>
              </a:defRPr>
            </a:pPr>
            <a:r>
              <a:t>Đại học Thủ Dầu Một  —  Đại sứ Văn hóa Đọc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2091</Words>
  <Application>Microsoft Office PowerPoint</Application>
  <PresentationFormat>Widescreen</PresentationFormat>
  <Paragraphs>284</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HOATHANG</cp:lastModifiedBy>
  <cp:revision>2</cp:revision>
  <dcterms:created xsi:type="dcterms:W3CDTF">2013-01-27T09:14:16Z</dcterms:created>
  <dcterms:modified xsi:type="dcterms:W3CDTF">2026-05-30T05:33:01Z</dcterms:modified>
  <cp:category/>
</cp:coreProperties>
</file>